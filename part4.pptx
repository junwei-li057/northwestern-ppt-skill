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9694" autoAdjust="0"/>
  </p:normalViewPr>
  <p:slideViewPr>
    <p:cSldViewPr snapToGrid="0" snapToObjects="1">
      <p:cViewPr varScale="1">
        <p:scale>
          <a:sx n="156" d="100"/>
          <a:sy n="156" d="100"/>
        </p:scale>
        <p:origin x="192" y="2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0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542060"/>
            <a:ext cx="9144000" cy="2054160"/>
          </a:xfrm>
        </p:spPr>
        <p:txBody>
          <a:bodyPr/>
          <a:lstStyle>
            <a:lvl1pPr algn="ctr">
              <a:defRPr>
                <a:solidFill>
                  <a:srgbClr val="404040"/>
                </a:solidFill>
                <a:latin typeface="Arial"/>
              </a:defRPr>
            </a:lvl1pPr>
          </a:lstStyle>
          <a:p>
            <a:r>
              <a:rPr lang="en-US" dirty="0"/>
              <a:t>Separator </a:t>
            </a:r>
          </a:p>
        </p:txBody>
      </p:sp>
      <p:pic>
        <p:nvPicPr>
          <p:cNvPr id="3" name="Picture 2" descr="NWU PPT Wide Opt 4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FA5DAB8B-8178-D047-869E-5A62AF236443}" type="datetime1">
              <a:rPr lang="en-US" smtClean="0"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5/11/26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5/11/26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NWU PPT Wide Opt 4_Master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F793CE5A-38B3-134F-1531-577D1B133A6B}"/>
              </a:ext>
            </a:extLst>
          </p:cNvPr>
          <p:cNvSpPr txBox="1"/>
          <p:nvPr/>
        </p:nvSpPr>
        <p:spPr>
          <a:xfrm>
            <a:off x="451241" y="397178"/>
            <a:ext cx="8241517" cy="5293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400" b="1">
                <a:solidFill>
                  <a:srgbClr val="3A1C5C"/>
                </a:solidFill>
                <a:latin typeface="Times New Roman"/>
              </a:defRPr>
            </a:pPr>
            <a:r>
              <a:rPr sz="3200" dirty="0">
                <a:latin typeface="Times New Roman"/>
              </a:rPr>
              <a:t>From Interaction to Evaluation and Diagnosis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A7F0CF3-62C9-010B-9B9A-48FEBD526DD0}"/>
              </a:ext>
            </a:extLst>
          </p:cNvPr>
          <p:cNvSpPr txBox="1"/>
          <p:nvPr/>
        </p:nvSpPr>
        <p:spPr>
          <a:xfrm>
            <a:off x="451241" y="1044692"/>
            <a:ext cx="7132320" cy="3139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0">
                <a:solidFill>
                  <a:srgbClr val="64606E"/>
                </a:solidFill>
                <a:latin typeface="Times New Roman"/>
              </a:defRPr>
            </a:pPr>
            <a:r>
              <a:rPr dirty="0" err="1">
                <a:latin typeface="Times New Roman"/>
              </a:rPr>
              <a:t>MultiAgentBench</a:t>
            </a:r>
            <a:r>
              <a:rPr dirty="0">
                <a:latin typeface="Times New Roman"/>
              </a:rPr>
              <a:t> + MAST, connected through a Werewolf anchor case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969270AB-C2C1-C84F-B241-8C2AC10892DF}"/>
              </a:ext>
            </a:extLst>
          </p:cNvPr>
          <p:cNvSpPr/>
          <p:nvPr/>
        </p:nvSpPr>
        <p:spPr>
          <a:xfrm>
            <a:off x="948716" y="1877199"/>
            <a:ext cx="16002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Agent interaction</a:t>
            </a:r>
          </a:p>
        </p:txBody>
      </p:sp>
      <p:cxnSp>
        <p:nvCxnSpPr>
          <p:cNvPr id="6" name="Connector 7">
            <a:extLst>
              <a:ext uri="{FF2B5EF4-FFF2-40B4-BE49-F238E27FC236}">
                <a16:creationId xmlns:a16="http://schemas.microsoft.com/office/drawing/2014/main" id="{B7EF6C9E-CC7E-D8D1-6120-66EA6C66E974}"/>
              </a:ext>
            </a:extLst>
          </p:cNvPr>
          <p:cNvCxnSpPr/>
          <p:nvPr/>
        </p:nvCxnSpPr>
        <p:spPr>
          <a:xfrm>
            <a:off x="2576348" y="2032647"/>
            <a:ext cx="1101852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8313397-DBDE-4B51-B0BD-779B48368D62}"/>
              </a:ext>
            </a:extLst>
          </p:cNvPr>
          <p:cNvSpPr/>
          <p:nvPr/>
        </p:nvSpPr>
        <p:spPr>
          <a:xfrm>
            <a:off x="3678200" y="1877199"/>
            <a:ext cx="1636776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Process evaluation</a:t>
            </a:r>
          </a:p>
        </p:txBody>
      </p:sp>
      <p:cxnSp>
        <p:nvCxnSpPr>
          <p:cNvPr id="8" name="Connector 9">
            <a:extLst>
              <a:ext uri="{FF2B5EF4-FFF2-40B4-BE49-F238E27FC236}">
                <a16:creationId xmlns:a16="http://schemas.microsoft.com/office/drawing/2014/main" id="{1853E371-D428-F063-2042-38CE0EEC6A95}"/>
              </a:ext>
            </a:extLst>
          </p:cNvPr>
          <p:cNvCxnSpPr/>
          <p:nvPr/>
        </p:nvCxnSpPr>
        <p:spPr>
          <a:xfrm>
            <a:off x="5342408" y="2032647"/>
            <a:ext cx="1101852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7933212C-FAE2-5D6F-73BD-ECFD731E409A}"/>
              </a:ext>
            </a:extLst>
          </p:cNvPr>
          <p:cNvSpPr/>
          <p:nvPr/>
        </p:nvSpPr>
        <p:spPr>
          <a:xfrm>
            <a:off x="6416828" y="1877199"/>
            <a:ext cx="1664208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Failure attribution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D9B6FC75-2CCD-DF5A-ACC4-2B0E90AABC8D}"/>
              </a:ext>
            </a:extLst>
          </p:cNvPr>
          <p:cNvSpPr/>
          <p:nvPr/>
        </p:nvSpPr>
        <p:spPr>
          <a:xfrm>
            <a:off x="1040156" y="2791599"/>
            <a:ext cx="3246120" cy="960120"/>
          </a:xfrm>
          <a:prstGeom prst="roundRect">
            <a:avLst/>
          </a:prstGeom>
          <a:solidFill>
            <a:srgbClr val="EFF4FC"/>
          </a:solidFill>
          <a:ln w="13970">
            <a:solidFill>
              <a:srgbClr val="45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6BA5F687-3858-1FA1-00E4-A3D52B2A9F83}"/>
              </a:ext>
            </a:extLst>
          </p:cNvPr>
          <p:cNvSpPr txBox="1"/>
          <p:nvPr/>
        </p:nvSpPr>
        <p:spPr>
          <a:xfrm>
            <a:off x="1149886" y="2873894"/>
            <a:ext cx="3026663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4574B8"/>
                </a:solidFill>
                <a:latin typeface="Times New Roman"/>
              </a:defRPr>
            </a:pPr>
            <a:r>
              <a:rPr sz="1600">
                <a:latin typeface="Times New Roman"/>
              </a:rPr>
              <a:t>MultiAgentBench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A4E7C31E-3A89-3BE9-B768-B307EC7350BC}"/>
              </a:ext>
            </a:extLst>
          </p:cNvPr>
          <p:cNvSpPr txBox="1"/>
          <p:nvPr/>
        </p:nvSpPr>
        <p:spPr>
          <a:xfrm>
            <a:off x="1149886" y="3230510"/>
            <a:ext cx="3026663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300">
                <a:latin typeface="Times New Roman"/>
              </a:rPr>
              <a:t>Measures task progress and coordination quality in interactive MAS.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395E9E60-DA42-B04F-DF97-8F49DF35970C}"/>
              </a:ext>
            </a:extLst>
          </p:cNvPr>
          <p:cNvSpPr/>
          <p:nvPr/>
        </p:nvSpPr>
        <p:spPr>
          <a:xfrm>
            <a:off x="4606316" y="2791599"/>
            <a:ext cx="3246120" cy="960120"/>
          </a:xfrm>
          <a:prstGeom prst="roundRect">
            <a:avLst/>
          </a:prstGeom>
          <a:solidFill>
            <a:srgbClr val="FDF0F3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0C7B333D-69BD-1C9C-F259-A0FA007E7B22}"/>
              </a:ext>
            </a:extLst>
          </p:cNvPr>
          <p:cNvSpPr txBox="1"/>
          <p:nvPr/>
        </p:nvSpPr>
        <p:spPr>
          <a:xfrm>
            <a:off x="4716046" y="2873894"/>
            <a:ext cx="3026663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CF4F61"/>
                </a:solidFill>
                <a:latin typeface="Times New Roman"/>
              </a:defRPr>
            </a:pPr>
            <a:r>
              <a:rPr sz="1600">
                <a:latin typeface="Times New Roman"/>
              </a:rPr>
              <a:t>MAST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FBB7842A-3A29-AFA7-3D46-3FADA8053316}"/>
              </a:ext>
            </a:extLst>
          </p:cNvPr>
          <p:cNvSpPr txBox="1"/>
          <p:nvPr/>
        </p:nvSpPr>
        <p:spPr>
          <a:xfrm>
            <a:off x="4716046" y="3230510"/>
            <a:ext cx="3026663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300">
                <a:latin typeface="Times New Roman"/>
              </a:rPr>
              <a:t>Turns poor behavior into concrete failure modes.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927A2FA8-DCDE-7141-267D-480D98E1EAE0}"/>
              </a:ext>
            </a:extLst>
          </p:cNvPr>
          <p:cNvSpPr txBox="1"/>
          <p:nvPr/>
        </p:nvSpPr>
        <p:spPr>
          <a:xfrm>
            <a:off x="451241" y="242699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lang="en-US" altLang="zh-CN" sz="1000" dirty="0">
                <a:latin typeface="Times New Roman"/>
              </a:rPr>
              <a:t>TRANSITION</a:t>
            </a:r>
            <a:endParaRPr sz="10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204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C9A94DF1-90F4-2E25-170F-4FAFED2910E8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lang="en-US" altLang="zh-CN" sz="1000" dirty="0">
                <a:latin typeface="Times New Roman"/>
              </a:rPr>
              <a:t>INTRODUCTION</a:t>
            </a:r>
            <a:endParaRPr sz="1000" dirty="0">
              <a:latin typeface="Times New Roman"/>
            </a:endParaRPr>
          </a:p>
        </p:txBody>
      </p:sp>
      <p:sp>
        <p:nvSpPr>
          <p:cNvPr id="81" name="TextBox 5">
            <a:extLst>
              <a:ext uri="{FF2B5EF4-FFF2-40B4-BE49-F238E27FC236}">
                <a16:creationId xmlns:a16="http://schemas.microsoft.com/office/drawing/2014/main" id="{E6CCCAAB-DA8B-FF77-B085-838F1EC2AF70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>
                <a:latin typeface="Times New Roman"/>
              </a:rPr>
              <a:t>Final outcome is not enough</a:t>
            </a:r>
          </a:p>
        </p:txBody>
      </p:sp>
      <p:sp>
        <p:nvSpPr>
          <p:cNvPr id="82" name="Rectangle 6">
            <a:extLst>
              <a:ext uri="{FF2B5EF4-FFF2-40B4-BE49-F238E27FC236}">
                <a16:creationId xmlns:a16="http://schemas.microsoft.com/office/drawing/2014/main" id="{A4492858-5EE5-E19A-CDF4-606172801DA4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7">
            <a:extLst>
              <a:ext uri="{FF2B5EF4-FFF2-40B4-BE49-F238E27FC236}">
                <a16:creationId xmlns:a16="http://schemas.microsoft.com/office/drawing/2014/main" id="{040B5EF7-9555-3058-B224-439789BB00FC}"/>
              </a:ext>
            </a:extLst>
          </p:cNvPr>
          <p:cNvSpPr txBox="1"/>
          <p:nvPr/>
        </p:nvSpPr>
        <p:spPr>
          <a:xfrm>
            <a:off x="539813" y="1094226"/>
            <a:ext cx="4937760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100" b="1">
                <a:solidFill>
                  <a:srgbClr val="262626"/>
                </a:solidFill>
                <a:latin typeface="Times New Roman"/>
              </a:defRPr>
            </a:pPr>
            <a:r>
              <a:rPr sz="2000" dirty="0">
                <a:latin typeface="Times New Roman"/>
              </a:rPr>
              <a:t>Same result, different interaction process.</a:t>
            </a:r>
          </a:p>
        </p:txBody>
      </p:sp>
      <p:sp>
        <p:nvSpPr>
          <p:cNvPr id="84" name="Rounded Rectangle 8">
            <a:extLst>
              <a:ext uri="{FF2B5EF4-FFF2-40B4-BE49-F238E27FC236}">
                <a16:creationId xmlns:a16="http://schemas.microsoft.com/office/drawing/2014/main" id="{EA8EA0BA-D605-CD5D-3A9E-4FA3C5CA8A8C}"/>
              </a:ext>
            </a:extLst>
          </p:cNvPr>
          <p:cNvSpPr/>
          <p:nvPr/>
        </p:nvSpPr>
        <p:spPr>
          <a:xfrm>
            <a:off x="1480848" y="1629327"/>
            <a:ext cx="1417320" cy="329184"/>
          </a:xfrm>
          <a:prstGeom prst="roundRect">
            <a:avLst/>
          </a:prstGeom>
          <a:solidFill>
            <a:srgbClr val="EBE4F7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9">
            <a:extLst>
              <a:ext uri="{FF2B5EF4-FFF2-40B4-BE49-F238E27FC236}">
                <a16:creationId xmlns:a16="http://schemas.microsoft.com/office/drawing/2014/main" id="{7625A579-D36C-01B6-BF16-C33346E23BAC}"/>
              </a:ext>
            </a:extLst>
          </p:cNvPr>
          <p:cNvSpPr txBox="1"/>
          <p:nvPr/>
        </p:nvSpPr>
        <p:spPr>
          <a:xfrm>
            <a:off x="1590576" y="1711623"/>
            <a:ext cx="1197864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1">
                <a:solidFill>
                  <a:srgbClr val="542A84"/>
                </a:solidFill>
                <a:latin typeface="Times New Roman"/>
              </a:defRPr>
            </a:pPr>
            <a:endParaRPr sz="100"/>
          </a:p>
        </p:txBody>
      </p:sp>
      <p:sp>
        <p:nvSpPr>
          <p:cNvPr id="86" name="TextBox 10">
            <a:extLst>
              <a:ext uri="{FF2B5EF4-FFF2-40B4-BE49-F238E27FC236}">
                <a16:creationId xmlns:a16="http://schemas.microsoft.com/office/drawing/2014/main" id="{4CEBADC4-F79D-2DD6-52E9-B4FBEBCE4AEB}"/>
              </a:ext>
            </a:extLst>
          </p:cNvPr>
          <p:cNvSpPr txBox="1"/>
          <p:nvPr/>
        </p:nvSpPr>
        <p:spPr>
          <a:xfrm>
            <a:off x="1590576" y="2068238"/>
            <a:ext cx="1197864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0">
                <a:solidFill>
                  <a:srgbClr val="262626"/>
                </a:solidFill>
                <a:latin typeface="Times New Roman"/>
              </a:defRPr>
            </a:pPr>
            <a:endParaRPr sz="100"/>
          </a:p>
        </p:txBody>
      </p:sp>
      <p:sp>
        <p:nvSpPr>
          <p:cNvPr id="87" name="TextBox 11">
            <a:extLst>
              <a:ext uri="{FF2B5EF4-FFF2-40B4-BE49-F238E27FC236}">
                <a16:creationId xmlns:a16="http://schemas.microsoft.com/office/drawing/2014/main" id="{9C785259-91AB-D231-9CAE-0414FFE94EEC}"/>
              </a:ext>
            </a:extLst>
          </p:cNvPr>
          <p:cNvSpPr txBox="1"/>
          <p:nvPr/>
        </p:nvSpPr>
        <p:spPr>
          <a:xfrm>
            <a:off x="1535712" y="1697907"/>
            <a:ext cx="1307592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3A1C5C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Final result</a:t>
            </a:r>
          </a:p>
        </p:txBody>
      </p:sp>
      <p:sp>
        <p:nvSpPr>
          <p:cNvPr id="88" name="Rounded Rectangle 12">
            <a:extLst>
              <a:ext uri="{FF2B5EF4-FFF2-40B4-BE49-F238E27FC236}">
                <a16:creationId xmlns:a16="http://schemas.microsoft.com/office/drawing/2014/main" id="{0A17983D-9192-DB17-AF62-FB27FBBB16C7}"/>
              </a:ext>
            </a:extLst>
          </p:cNvPr>
          <p:cNvSpPr/>
          <p:nvPr/>
        </p:nvSpPr>
        <p:spPr>
          <a:xfrm>
            <a:off x="2898168" y="1629327"/>
            <a:ext cx="2331720" cy="329184"/>
          </a:xfrm>
          <a:prstGeom prst="roundRect">
            <a:avLst/>
          </a:prstGeom>
          <a:solidFill>
            <a:srgbClr val="EBE4F7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13">
            <a:extLst>
              <a:ext uri="{FF2B5EF4-FFF2-40B4-BE49-F238E27FC236}">
                <a16:creationId xmlns:a16="http://schemas.microsoft.com/office/drawing/2014/main" id="{3BF6DD34-FD0F-1C41-E192-50BAB57E32A9}"/>
              </a:ext>
            </a:extLst>
          </p:cNvPr>
          <p:cNvSpPr txBox="1"/>
          <p:nvPr/>
        </p:nvSpPr>
        <p:spPr>
          <a:xfrm>
            <a:off x="3007898" y="1711623"/>
            <a:ext cx="2112263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1">
                <a:solidFill>
                  <a:srgbClr val="542A84"/>
                </a:solidFill>
                <a:latin typeface="Times New Roman"/>
              </a:defRPr>
            </a:pPr>
            <a:endParaRPr sz="100"/>
          </a:p>
        </p:txBody>
      </p:sp>
      <p:sp>
        <p:nvSpPr>
          <p:cNvPr id="90" name="TextBox 14">
            <a:extLst>
              <a:ext uri="{FF2B5EF4-FFF2-40B4-BE49-F238E27FC236}">
                <a16:creationId xmlns:a16="http://schemas.microsoft.com/office/drawing/2014/main" id="{B0A7BCF8-ABDA-E974-2E88-01CC80B9EC57}"/>
              </a:ext>
            </a:extLst>
          </p:cNvPr>
          <p:cNvSpPr txBox="1"/>
          <p:nvPr/>
        </p:nvSpPr>
        <p:spPr>
          <a:xfrm>
            <a:off x="3007898" y="2068238"/>
            <a:ext cx="2112263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0">
                <a:solidFill>
                  <a:srgbClr val="262626"/>
                </a:solidFill>
                <a:latin typeface="Times New Roman"/>
              </a:defRPr>
            </a:pPr>
            <a:endParaRPr sz="100"/>
          </a:p>
        </p:txBody>
      </p:sp>
      <p:sp>
        <p:nvSpPr>
          <p:cNvPr id="91" name="TextBox 15">
            <a:extLst>
              <a:ext uri="{FF2B5EF4-FFF2-40B4-BE49-F238E27FC236}">
                <a16:creationId xmlns:a16="http://schemas.microsoft.com/office/drawing/2014/main" id="{AC106853-B0B6-9A9F-AC7B-714F830EC692}"/>
              </a:ext>
            </a:extLst>
          </p:cNvPr>
          <p:cNvSpPr txBox="1"/>
          <p:nvPr/>
        </p:nvSpPr>
        <p:spPr>
          <a:xfrm>
            <a:off x="2953034" y="1697907"/>
            <a:ext cx="2221991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3A1C5C"/>
                </a:solidFill>
                <a:latin typeface="Times New Roman"/>
              </a:defRPr>
            </a:pPr>
            <a:r>
              <a:rPr sz="1600" b="1" dirty="0">
                <a:solidFill>
                  <a:srgbClr val="3A1C5C"/>
                </a:solidFill>
                <a:latin typeface="Times New Roman"/>
              </a:rPr>
              <a:t>Possible process A</a:t>
            </a:r>
          </a:p>
        </p:txBody>
      </p:sp>
      <p:sp>
        <p:nvSpPr>
          <p:cNvPr id="92" name="Rounded Rectangle 16">
            <a:extLst>
              <a:ext uri="{FF2B5EF4-FFF2-40B4-BE49-F238E27FC236}">
                <a16:creationId xmlns:a16="http://schemas.microsoft.com/office/drawing/2014/main" id="{074F8B50-AC10-843A-853D-D85672B6A165}"/>
              </a:ext>
            </a:extLst>
          </p:cNvPr>
          <p:cNvSpPr/>
          <p:nvPr/>
        </p:nvSpPr>
        <p:spPr>
          <a:xfrm>
            <a:off x="5229888" y="1629327"/>
            <a:ext cx="2331720" cy="329184"/>
          </a:xfrm>
          <a:prstGeom prst="roundRect">
            <a:avLst/>
          </a:prstGeom>
          <a:solidFill>
            <a:srgbClr val="EBE4F7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17">
            <a:extLst>
              <a:ext uri="{FF2B5EF4-FFF2-40B4-BE49-F238E27FC236}">
                <a16:creationId xmlns:a16="http://schemas.microsoft.com/office/drawing/2014/main" id="{002539F4-0A7B-D458-9CA6-B9B5BFEECE96}"/>
              </a:ext>
            </a:extLst>
          </p:cNvPr>
          <p:cNvSpPr txBox="1"/>
          <p:nvPr/>
        </p:nvSpPr>
        <p:spPr>
          <a:xfrm>
            <a:off x="5339618" y="1711623"/>
            <a:ext cx="2112263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1">
                <a:solidFill>
                  <a:srgbClr val="542A84"/>
                </a:solidFill>
                <a:latin typeface="Times New Roman"/>
              </a:defRPr>
            </a:pPr>
            <a:endParaRPr sz="100"/>
          </a:p>
        </p:txBody>
      </p:sp>
      <p:sp>
        <p:nvSpPr>
          <p:cNvPr id="94" name="TextBox 18">
            <a:extLst>
              <a:ext uri="{FF2B5EF4-FFF2-40B4-BE49-F238E27FC236}">
                <a16:creationId xmlns:a16="http://schemas.microsoft.com/office/drawing/2014/main" id="{19985EE3-D4FC-1772-70CF-E27B21558C7C}"/>
              </a:ext>
            </a:extLst>
          </p:cNvPr>
          <p:cNvSpPr txBox="1"/>
          <p:nvPr/>
        </p:nvSpPr>
        <p:spPr>
          <a:xfrm>
            <a:off x="5339618" y="2068238"/>
            <a:ext cx="2112263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0">
                <a:solidFill>
                  <a:srgbClr val="262626"/>
                </a:solidFill>
                <a:latin typeface="Times New Roman"/>
              </a:defRPr>
            </a:pPr>
            <a:endParaRPr sz="100"/>
          </a:p>
        </p:txBody>
      </p:sp>
      <p:sp>
        <p:nvSpPr>
          <p:cNvPr id="95" name="TextBox 19">
            <a:extLst>
              <a:ext uri="{FF2B5EF4-FFF2-40B4-BE49-F238E27FC236}">
                <a16:creationId xmlns:a16="http://schemas.microsoft.com/office/drawing/2014/main" id="{94E5DFC9-F58F-FEAE-0553-0D2937BB3128}"/>
              </a:ext>
            </a:extLst>
          </p:cNvPr>
          <p:cNvSpPr txBox="1"/>
          <p:nvPr/>
        </p:nvSpPr>
        <p:spPr>
          <a:xfrm>
            <a:off x="5284753" y="1697907"/>
            <a:ext cx="2221991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3A1C5C"/>
                </a:solidFill>
                <a:latin typeface="Times New Roman"/>
              </a:defRPr>
            </a:pPr>
            <a:r>
              <a:rPr sz="1600" b="1" dirty="0">
                <a:solidFill>
                  <a:srgbClr val="3A1C5C"/>
                </a:solidFill>
                <a:latin typeface="Times New Roman"/>
              </a:rPr>
              <a:t>Possible process B</a:t>
            </a:r>
          </a:p>
        </p:txBody>
      </p:sp>
      <p:sp>
        <p:nvSpPr>
          <p:cNvPr id="96" name="Rectangle 20">
            <a:extLst>
              <a:ext uri="{FF2B5EF4-FFF2-40B4-BE49-F238E27FC236}">
                <a16:creationId xmlns:a16="http://schemas.microsoft.com/office/drawing/2014/main" id="{5C809169-0360-6BA4-D353-E757122C3DC7}"/>
              </a:ext>
            </a:extLst>
          </p:cNvPr>
          <p:cNvSpPr/>
          <p:nvPr/>
        </p:nvSpPr>
        <p:spPr>
          <a:xfrm>
            <a:off x="1480848" y="1958511"/>
            <a:ext cx="1417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21">
            <a:extLst>
              <a:ext uri="{FF2B5EF4-FFF2-40B4-BE49-F238E27FC236}">
                <a16:creationId xmlns:a16="http://schemas.microsoft.com/office/drawing/2014/main" id="{384F9BD2-6A96-7FD2-4070-AB89FD9524D2}"/>
              </a:ext>
            </a:extLst>
          </p:cNvPr>
          <p:cNvSpPr txBox="1"/>
          <p:nvPr/>
        </p:nvSpPr>
        <p:spPr>
          <a:xfrm>
            <a:off x="1535712" y="2027093"/>
            <a:ext cx="130759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Success</a:t>
            </a:r>
          </a:p>
        </p:txBody>
      </p:sp>
      <p:sp>
        <p:nvSpPr>
          <p:cNvPr id="98" name="Rectangle 22">
            <a:extLst>
              <a:ext uri="{FF2B5EF4-FFF2-40B4-BE49-F238E27FC236}">
                <a16:creationId xmlns:a16="http://schemas.microsoft.com/office/drawing/2014/main" id="{BCDE7582-D38E-BDE2-FEE1-C0997086300F}"/>
              </a:ext>
            </a:extLst>
          </p:cNvPr>
          <p:cNvSpPr/>
          <p:nvPr/>
        </p:nvSpPr>
        <p:spPr>
          <a:xfrm>
            <a:off x="2898168" y="1958511"/>
            <a:ext cx="2331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23">
            <a:extLst>
              <a:ext uri="{FF2B5EF4-FFF2-40B4-BE49-F238E27FC236}">
                <a16:creationId xmlns:a16="http://schemas.microsoft.com/office/drawing/2014/main" id="{F1202D3E-299A-63F2-9128-B9B12AE6D59E}"/>
              </a:ext>
            </a:extLst>
          </p:cNvPr>
          <p:cNvSpPr txBox="1"/>
          <p:nvPr/>
        </p:nvSpPr>
        <p:spPr>
          <a:xfrm>
            <a:off x="2953034" y="2027093"/>
            <a:ext cx="222199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Efficient coordination</a:t>
            </a:r>
          </a:p>
        </p:txBody>
      </p:sp>
      <p:sp>
        <p:nvSpPr>
          <p:cNvPr id="100" name="Rectangle 24">
            <a:extLst>
              <a:ext uri="{FF2B5EF4-FFF2-40B4-BE49-F238E27FC236}">
                <a16:creationId xmlns:a16="http://schemas.microsoft.com/office/drawing/2014/main" id="{0723FA49-3148-7887-32F4-C71230AB3CA1}"/>
              </a:ext>
            </a:extLst>
          </p:cNvPr>
          <p:cNvSpPr/>
          <p:nvPr/>
        </p:nvSpPr>
        <p:spPr>
          <a:xfrm>
            <a:off x="5229888" y="1958511"/>
            <a:ext cx="2331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25">
            <a:extLst>
              <a:ext uri="{FF2B5EF4-FFF2-40B4-BE49-F238E27FC236}">
                <a16:creationId xmlns:a16="http://schemas.microsoft.com/office/drawing/2014/main" id="{3BA60C08-C63A-309A-E975-BE56077CFE7D}"/>
              </a:ext>
            </a:extLst>
          </p:cNvPr>
          <p:cNvSpPr txBox="1"/>
          <p:nvPr/>
        </p:nvSpPr>
        <p:spPr>
          <a:xfrm>
            <a:off x="5284753" y="2027093"/>
            <a:ext cx="222199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Lucky trial-and-error</a:t>
            </a:r>
          </a:p>
        </p:txBody>
      </p:sp>
      <p:sp>
        <p:nvSpPr>
          <p:cNvPr id="102" name="Rectangle 26">
            <a:extLst>
              <a:ext uri="{FF2B5EF4-FFF2-40B4-BE49-F238E27FC236}">
                <a16:creationId xmlns:a16="http://schemas.microsoft.com/office/drawing/2014/main" id="{E32AFB53-BBD3-1211-B4A3-A7C310CE179C}"/>
              </a:ext>
            </a:extLst>
          </p:cNvPr>
          <p:cNvSpPr/>
          <p:nvPr/>
        </p:nvSpPr>
        <p:spPr>
          <a:xfrm>
            <a:off x="1480848" y="2287695"/>
            <a:ext cx="1417320" cy="329184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27">
            <a:extLst>
              <a:ext uri="{FF2B5EF4-FFF2-40B4-BE49-F238E27FC236}">
                <a16:creationId xmlns:a16="http://schemas.microsoft.com/office/drawing/2014/main" id="{C8792469-76D8-D7F5-BA88-147A54BF3F68}"/>
              </a:ext>
            </a:extLst>
          </p:cNvPr>
          <p:cNvSpPr txBox="1"/>
          <p:nvPr/>
        </p:nvSpPr>
        <p:spPr>
          <a:xfrm>
            <a:off x="1535712" y="2356277"/>
            <a:ext cx="130759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Failure</a:t>
            </a:r>
          </a:p>
        </p:txBody>
      </p:sp>
      <p:sp>
        <p:nvSpPr>
          <p:cNvPr id="104" name="Rectangle 28">
            <a:extLst>
              <a:ext uri="{FF2B5EF4-FFF2-40B4-BE49-F238E27FC236}">
                <a16:creationId xmlns:a16="http://schemas.microsoft.com/office/drawing/2014/main" id="{9B15FA07-CD45-4C92-BBA8-DDC127536FD9}"/>
              </a:ext>
            </a:extLst>
          </p:cNvPr>
          <p:cNvSpPr/>
          <p:nvPr/>
        </p:nvSpPr>
        <p:spPr>
          <a:xfrm>
            <a:off x="2898168" y="2287695"/>
            <a:ext cx="2331720" cy="329184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29">
            <a:extLst>
              <a:ext uri="{FF2B5EF4-FFF2-40B4-BE49-F238E27FC236}">
                <a16:creationId xmlns:a16="http://schemas.microsoft.com/office/drawing/2014/main" id="{EA16D63A-AA32-561F-FD87-3BDF546A1E94}"/>
              </a:ext>
            </a:extLst>
          </p:cNvPr>
          <p:cNvSpPr txBox="1"/>
          <p:nvPr/>
        </p:nvSpPr>
        <p:spPr>
          <a:xfrm>
            <a:off x="2953034" y="2356277"/>
            <a:ext cx="222199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Weak model ability</a:t>
            </a: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32DED776-FB96-2016-2DAE-4B429EF3633E}"/>
              </a:ext>
            </a:extLst>
          </p:cNvPr>
          <p:cNvSpPr/>
          <p:nvPr/>
        </p:nvSpPr>
        <p:spPr>
          <a:xfrm>
            <a:off x="5229888" y="2287695"/>
            <a:ext cx="2331720" cy="329184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31">
            <a:extLst>
              <a:ext uri="{FF2B5EF4-FFF2-40B4-BE49-F238E27FC236}">
                <a16:creationId xmlns:a16="http://schemas.microsoft.com/office/drawing/2014/main" id="{90FA1746-DBAF-420F-E403-ED082B2BBD93}"/>
              </a:ext>
            </a:extLst>
          </p:cNvPr>
          <p:cNvSpPr txBox="1"/>
          <p:nvPr/>
        </p:nvSpPr>
        <p:spPr>
          <a:xfrm>
            <a:off x="5284753" y="2356277"/>
            <a:ext cx="222199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Poor communication</a:t>
            </a:r>
          </a:p>
        </p:txBody>
      </p:sp>
      <p:sp>
        <p:nvSpPr>
          <p:cNvPr id="108" name="Rectangle 32">
            <a:extLst>
              <a:ext uri="{FF2B5EF4-FFF2-40B4-BE49-F238E27FC236}">
                <a16:creationId xmlns:a16="http://schemas.microsoft.com/office/drawing/2014/main" id="{FBFA5EFB-7FF8-678E-3961-1CCDBA99A894}"/>
              </a:ext>
            </a:extLst>
          </p:cNvPr>
          <p:cNvSpPr/>
          <p:nvPr/>
        </p:nvSpPr>
        <p:spPr>
          <a:xfrm>
            <a:off x="1480848" y="2616879"/>
            <a:ext cx="1417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33">
            <a:extLst>
              <a:ext uri="{FF2B5EF4-FFF2-40B4-BE49-F238E27FC236}">
                <a16:creationId xmlns:a16="http://schemas.microsoft.com/office/drawing/2014/main" id="{A7C84C93-C0EC-7811-DC39-1C757A24B41C}"/>
              </a:ext>
            </a:extLst>
          </p:cNvPr>
          <p:cNvSpPr txBox="1"/>
          <p:nvPr/>
        </p:nvSpPr>
        <p:spPr>
          <a:xfrm>
            <a:off x="1535712" y="2685461"/>
            <a:ext cx="130759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Low score</a:t>
            </a:r>
          </a:p>
        </p:txBody>
      </p:sp>
      <p:sp>
        <p:nvSpPr>
          <p:cNvPr id="110" name="Rectangle 34">
            <a:extLst>
              <a:ext uri="{FF2B5EF4-FFF2-40B4-BE49-F238E27FC236}">
                <a16:creationId xmlns:a16="http://schemas.microsoft.com/office/drawing/2014/main" id="{34D4D09E-7300-E7E5-E598-EB273901EB01}"/>
              </a:ext>
            </a:extLst>
          </p:cNvPr>
          <p:cNvSpPr/>
          <p:nvPr/>
        </p:nvSpPr>
        <p:spPr>
          <a:xfrm>
            <a:off x="2898168" y="2616879"/>
            <a:ext cx="2331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35">
            <a:extLst>
              <a:ext uri="{FF2B5EF4-FFF2-40B4-BE49-F238E27FC236}">
                <a16:creationId xmlns:a16="http://schemas.microsoft.com/office/drawing/2014/main" id="{A39CC99E-7E1D-3F97-13FB-FB534C8C48C5}"/>
              </a:ext>
            </a:extLst>
          </p:cNvPr>
          <p:cNvSpPr txBox="1"/>
          <p:nvPr/>
        </p:nvSpPr>
        <p:spPr>
          <a:xfrm>
            <a:off x="2953034" y="2685461"/>
            <a:ext cx="222199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Ignored evidence</a:t>
            </a:r>
          </a:p>
        </p:txBody>
      </p:sp>
      <p:sp>
        <p:nvSpPr>
          <p:cNvPr id="112" name="Rectangle 36">
            <a:extLst>
              <a:ext uri="{FF2B5EF4-FFF2-40B4-BE49-F238E27FC236}">
                <a16:creationId xmlns:a16="http://schemas.microsoft.com/office/drawing/2014/main" id="{04A9184E-0FBD-9D2A-DD54-B533D19D9E0B}"/>
              </a:ext>
            </a:extLst>
          </p:cNvPr>
          <p:cNvSpPr/>
          <p:nvPr/>
        </p:nvSpPr>
        <p:spPr>
          <a:xfrm>
            <a:off x="5229888" y="2616879"/>
            <a:ext cx="2331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37">
            <a:extLst>
              <a:ext uri="{FF2B5EF4-FFF2-40B4-BE49-F238E27FC236}">
                <a16:creationId xmlns:a16="http://schemas.microsoft.com/office/drawing/2014/main" id="{5EF36803-85DB-2C96-DF0E-14B281AB4702}"/>
              </a:ext>
            </a:extLst>
          </p:cNvPr>
          <p:cNvSpPr txBox="1"/>
          <p:nvPr/>
        </p:nvSpPr>
        <p:spPr>
          <a:xfrm>
            <a:off x="5284753" y="2685461"/>
            <a:ext cx="222199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No verification</a:t>
            </a:r>
          </a:p>
        </p:txBody>
      </p:sp>
      <p:sp>
        <p:nvSpPr>
          <p:cNvPr id="114" name="Rounded Rectangle 38">
            <a:extLst>
              <a:ext uri="{FF2B5EF4-FFF2-40B4-BE49-F238E27FC236}">
                <a16:creationId xmlns:a16="http://schemas.microsoft.com/office/drawing/2014/main" id="{A463A232-E23F-C52E-4D22-C60214239802}"/>
              </a:ext>
            </a:extLst>
          </p:cNvPr>
          <p:cNvSpPr/>
          <p:nvPr/>
        </p:nvSpPr>
        <p:spPr>
          <a:xfrm>
            <a:off x="1480848" y="3326623"/>
            <a:ext cx="6083493" cy="1081410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39">
            <a:extLst>
              <a:ext uri="{FF2B5EF4-FFF2-40B4-BE49-F238E27FC236}">
                <a16:creationId xmlns:a16="http://schemas.microsoft.com/office/drawing/2014/main" id="{4557E152-DDF4-B18B-DCE3-0CCC16F3750A}"/>
              </a:ext>
            </a:extLst>
          </p:cNvPr>
          <p:cNvSpPr txBox="1"/>
          <p:nvPr/>
        </p:nvSpPr>
        <p:spPr>
          <a:xfrm>
            <a:off x="1590575" y="3408919"/>
            <a:ext cx="5815929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Core claim</a:t>
            </a:r>
          </a:p>
        </p:txBody>
      </p:sp>
      <p:sp>
        <p:nvSpPr>
          <p:cNvPr id="116" name="TextBox 40">
            <a:extLst>
              <a:ext uri="{FF2B5EF4-FFF2-40B4-BE49-F238E27FC236}">
                <a16:creationId xmlns:a16="http://schemas.microsoft.com/office/drawing/2014/main" id="{FD554803-DBBB-3B11-9115-7C90BC3B24D2}"/>
              </a:ext>
            </a:extLst>
          </p:cNvPr>
          <p:cNvSpPr txBox="1"/>
          <p:nvPr/>
        </p:nvSpPr>
        <p:spPr>
          <a:xfrm>
            <a:off x="1654410" y="3727208"/>
            <a:ext cx="5815929" cy="5293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262626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If interaction changes behavior, evaluation must observe the process, not just the final label.</a:t>
            </a:r>
          </a:p>
        </p:txBody>
      </p:sp>
    </p:spTree>
    <p:extLst>
      <p:ext uri="{BB962C8B-B14F-4D97-AF65-F5344CB8AC3E}">
        <p14:creationId xmlns:p14="http://schemas.microsoft.com/office/powerpoint/2010/main" val="14175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396A-37DF-1E33-2F32-2969DA4D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5677-CC2E-C659-117B-C9A0DB99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AF97CF0A-B9EF-F3B7-49A2-7C489803B162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MULTIAGENTBENCH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AA5BA641-89C5-440C-AFD2-9E99376FB470}"/>
              </a:ext>
            </a:extLst>
          </p:cNvPr>
          <p:cNvSpPr txBox="1"/>
          <p:nvPr/>
        </p:nvSpPr>
        <p:spPr>
          <a:xfrm>
            <a:off x="502920" y="420624"/>
            <a:ext cx="8302752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lang="en-US" sz="2800" dirty="0" err="1">
                <a:latin typeface="Times New Roman"/>
              </a:rPr>
              <a:t>MultiAgentBench</a:t>
            </a:r>
            <a:r>
              <a:rPr lang="en-US" sz="2800" dirty="0">
                <a:latin typeface="Times New Roman"/>
              </a:rPr>
              <a:t>: </a:t>
            </a:r>
            <a:r>
              <a:rPr sz="2800" dirty="0">
                <a:latin typeface="Times New Roman"/>
              </a:rPr>
              <a:t>From milestones to process metrics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622FD0-F2C5-FE94-82E5-070238681A20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D9A83333-335D-FFD8-81E7-AB265AA6BE3E}"/>
              </a:ext>
            </a:extLst>
          </p:cNvPr>
          <p:cNvSpPr/>
          <p:nvPr/>
        </p:nvSpPr>
        <p:spPr>
          <a:xfrm>
            <a:off x="743837" y="3605909"/>
            <a:ext cx="2313432" cy="952649"/>
          </a:xfrm>
          <a:prstGeom prst="roundRect">
            <a:avLst/>
          </a:prstGeom>
          <a:solidFill>
            <a:srgbClr val="EFF4FC"/>
          </a:solidFill>
          <a:ln w="13970">
            <a:solidFill>
              <a:srgbClr val="45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6E76BC2-6830-A893-7D43-C16915AA0D0B}"/>
              </a:ext>
            </a:extLst>
          </p:cNvPr>
          <p:cNvSpPr txBox="1"/>
          <p:nvPr/>
        </p:nvSpPr>
        <p:spPr>
          <a:xfrm>
            <a:off x="881581" y="3688205"/>
            <a:ext cx="2175688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4574B8"/>
                </a:solidFill>
                <a:latin typeface="Times New Roman"/>
              </a:defRPr>
            </a:pPr>
            <a:r>
              <a:rPr sz="1500" dirty="0">
                <a:latin typeface="Times New Roman"/>
              </a:rPr>
              <a:t>Milestone KPI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28DC156-1A8B-C2D3-D184-B1DB5433BE66}"/>
              </a:ext>
            </a:extLst>
          </p:cNvPr>
          <p:cNvSpPr txBox="1"/>
          <p:nvPr/>
        </p:nvSpPr>
        <p:spPr>
          <a:xfrm>
            <a:off x="881581" y="4044821"/>
            <a:ext cx="2175688" cy="4216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62626"/>
                </a:solidFill>
                <a:latin typeface="Times New Roman"/>
              </a:defRPr>
            </a:pPr>
            <a:r>
              <a:rPr sz="1250" dirty="0">
                <a:latin typeface="Times New Roman"/>
              </a:rPr>
              <a:t>Tracks intermediate progress and each agent's contribution.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185BBDA3-25D0-BDAC-F638-07FCF09E7285}"/>
              </a:ext>
            </a:extLst>
          </p:cNvPr>
          <p:cNvSpPr/>
          <p:nvPr/>
        </p:nvSpPr>
        <p:spPr>
          <a:xfrm>
            <a:off x="3466011" y="3605909"/>
            <a:ext cx="2423160" cy="983813"/>
          </a:xfrm>
          <a:prstGeom prst="roundRect">
            <a:avLst/>
          </a:prstGeom>
          <a:solidFill>
            <a:srgbClr val="EEF8F3"/>
          </a:solidFill>
          <a:ln w="13970">
            <a:solidFill>
              <a:srgbClr val="3D9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A7292583-5BBA-8562-AD19-DE6B27CEF00D}"/>
              </a:ext>
            </a:extLst>
          </p:cNvPr>
          <p:cNvSpPr txBox="1"/>
          <p:nvPr/>
        </p:nvSpPr>
        <p:spPr>
          <a:xfrm>
            <a:off x="3592193" y="3688205"/>
            <a:ext cx="2175688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3D916F"/>
                </a:solidFill>
                <a:latin typeface="Times New Roman"/>
              </a:defRPr>
            </a:pPr>
            <a:r>
              <a:rPr sz="1500" dirty="0">
                <a:latin typeface="Times New Roman"/>
              </a:rPr>
              <a:t>Communication Score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AF5B8BEC-7E66-7396-8EA4-9DDE4D8B71FA}"/>
              </a:ext>
            </a:extLst>
          </p:cNvPr>
          <p:cNvSpPr txBox="1"/>
          <p:nvPr/>
        </p:nvSpPr>
        <p:spPr>
          <a:xfrm>
            <a:off x="3592193" y="4044821"/>
            <a:ext cx="2175688" cy="4216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62626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Rates sharing, clarity, and goal alignment from traces.</a:t>
            </a: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FC3022DE-A376-D9EA-7E91-83377C7148B8}"/>
              </a:ext>
            </a:extLst>
          </p:cNvPr>
          <p:cNvSpPr/>
          <p:nvPr/>
        </p:nvSpPr>
        <p:spPr>
          <a:xfrm>
            <a:off x="6263640" y="3605909"/>
            <a:ext cx="2423160" cy="983813"/>
          </a:xfrm>
          <a:prstGeom prst="roundRect">
            <a:avLst/>
          </a:prstGeom>
          <a:solidFill>
            <a:srgbClr val="FCF7ED"/>
          </a:solidFill>
          <a:ln w="13970">
            <a:solidFill>
              <a:srgbClr val="CE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E2A817BE-CA43-5D05-5893-0EB66C3E00F6}"/>
              </a:ext>
            </a:extLst>
          </p:cNvPr>
          <p:cNvSpPr txBox="1"/>
          <p:nvPr/>
        </p:nvSpPr>
        <p:spPr>
          <a:xfrm>
            <a:off x="6401384" y="3688205"/>
            <a:ext cx="2175688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CE973E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Planning Score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A17EF34F-08A4-DD31-C5AA-FE88CA600E7B}"/>
              </a:ext>
            </a:extLst>
          </p:cNvPr>
          <p:cNvSpPr txBox="1"/>
          <p:nvPr/>
        </p:nvSpPr>
        <p:spPr>
          <a:xfrm>
            <a:off x="6401384" y="4044821"/>
            <a:ext cx="2175688" cy="4216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62626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Rates role organization, strategy, and adaptation.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65727B5-5B60-34DE-2642-0A83F03DD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76" y="1025978"/>
            <a:ext cx="6915259" cy="248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4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2806-35BB-FBF7-7C2E-02BBCB64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91B91-1DAB-5D33-B51F-BF853C66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023DC3F-4B79-5F8B-EFF3-B1126B560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1" r="66661" b="4613"/>
          <a:stretch>
            <a:fillRect/>
          </a:stretch>
        </p:blipFill>
        <p:spPr>
          <a:xfrm>
            <a:off x="5716213" y="1030852"/>
            <a:ext cx="1496906" cy="3031972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B2BEA46F-F238-0F01-C443-E69A0366C05A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PAPER 1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DA6210E-6E8B-97AB-0CF4-7EA99347DC99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lang="en-US" sz="2900" dirty="0">
                <a:latin typeface="Times New Roman"/>
              </a:rPr>
              <a:t>MARBLE</a:t>
            </a:r>
            <a:r>
              <a:rPr sz="2900" dirty="0">
                <a:latin typeface="Times New Roman"/>
              </a:rPr>
              <a:t>: measuring </a:t>
            </a:r>
            <a:r>
              <a:rPr lang="en-US" sz="2900" dirty="0">
                <a:latin typeface="Times New Roman"/>
              </a:rPr>
              <a:t>environments</a:t>
            </a:r>
            <a:endParaRPr sz="2900" dirty="0">
              <a:latin typeface="Times New Roman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E65678-DFD4-31FC-8C1C-1A4334B8848C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A3DC4812-AFB5-8C93-56FA-39676FC9AD7C}"/>
              </a:ext>
            </a:extLst>
          </p:cNvPr>
          <p:cNvSpPr txBox="1"/>
          <p:nvPr/>
        </p:nvSpPr>
        <p:spPr>
          <a:xfrm>
            <a:off x="8531352" y="6309360"/>
            <a:ext cx="2743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>
                <a:solidFill>
                  <a:srgbClr val="64606E"/>
                </a:solidFill>
                <a:latin typeface="Times New Roman"/>
              </a:defRPr>
            </a:pPr>
            <a:r>
              <a:rPr sz="950">
                <a:latin typeface="Times New Roman"/>
              </a:rPr>
              <a:t>03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08F8411-16D9-68F7-7B7F-B35365B03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564907"/>
              </p:ext>
            </p:extLst>
          </p:nvPr>
        </p:nvGraphicFramePr>
        <p:xfrm>
          <a:off x="435427" y="1099959"/>
          <a:ext cx="5016139" cy="35966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10493">
                  <a:extLst>
                    <a:ext uri="{9D8B030D-6E8A-4147-A177-3AD203B41FA5}">
                      <a16:colId xmlns:a16="http://schemas.microsoft.com/office/drawing/2014/main" val="2890478926"/>
                    </a:ext>
                  </a:extLst>
                </a:gridCol>
                <a:gridCol w="3805646">
                  <a:extLst>
                    <a:ext uri="{9D8B030D-6E8A-4147-A177-3AD203B41FA5}">
                      <a16:colId xmlns:a16="http://schemas.microsoft.com/office/drawing/2014/main" val="3440116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Environment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Characteristics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481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Research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dirty="0"/>
                        <a:t>Collaborate to generate and refine a research proposal;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b="1" dirty="0"/>
                        <a:t>Test: </a:t>
                      </a:r>
                      <a:r>
                        <a:rPr lang="en" altLang="zh-CN" sz="1200" dirty="0"/>
                        <a:t>knowledge synthesis, collaboration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01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Minecraft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/>
                        <a:t>Coordinate to build target structures in a shared world; </a:t>
                      </a:r>
                    </a:p>
                    <a:p>
                      <a:r>
                        <a:rPr lang="en" altLang="zh-CN" sz="1200" b="1" dirty="0"/>
                        <a:t>Test: </a:t>
                      </a:r>
                      <a:r>
                        <a:rPr lang="en" altLang="zh-CN" sz="1200" dirty="0"/>
                        <a:t>spatial execution, action coordination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66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Database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/>
                        <a:t>Diagnose database errors through specialized expert roles; </a:t>
                      </a:r>
                    </a:p>
                    <a:p>
                      <a:r>
                        <a:rPr lang="en" altLang="zh-CN" sz="1200" b="1" dirty="0"/>
                        <a:t>Test: </a:t>
                      </a:r>
                      <a:r>
                        <a:rPr lang="en" altLang="zh-CN" sz="1200" dirty="0"/>
                        <a:t>root-cause reasoning, role-based collaboration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0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Coding</a:t>
                      </a:r>
                      <a:endParaRPr lang="zh-CN" altLang="en-US" sz="1400" dirty="0"/>
                    </a:p>
                  </a:txBody>
                  <a:tcPr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dirty="0"/>
                        <a:t>Jointly solve programming tasks through coding and debugging;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b="1" dirty="0"/>
                        <a:t>Test: </a:t>
                      </a:r>
                      <a:r>
                        <a:rPr lang="en" altLang="zh-CN" sz="1200" dirty="0"/>
                        <a:t>code generation, modular collaboration.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95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Bargaining</a:t>
                      </a:r>
                      <a:endParaRPr lang="zh-CN" altLang="en-US" sz="1400" dirty="0"/>
                    </a:p>
                  </a:txBody>
                  <a:tcP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dirty="0"/>
                        <a:t>Negotiate over prices under conflicting interests;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b="1" dirty="0"/>
                        <a:t>Test: </a:t>
                      </a:r>
                      <a:r>
                        <a:rPr lang="en" altLang="zh-CN" sz="1200" dirty="0"/>
                        <a:t>strategic concession-making, competitive communication.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6316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Werewolf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dirty="0"/>
                        <a:t>Play a hidden-role social deduction game;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b="1" dirty="0"/>
                        <a:t>Test: </a:t>
                      </a:r>
                      <a:r>
                        <a:rPr lang="en" altLang="zh-CN" sz="1200" dirty="0"/>
                        <a:t>social inference, trust dynamics, deception, and alliance 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181800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6D21F390-30C0-91FB-F64A-88281B0A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75"/>
          <a:stretch>
            <a:fillRect/>
          </a:stretch>
        </p:blipFill>
        <p:spPr>
          <a:xfrm>
            <a:off x="7213118" y="1099959"/>
            <a:ext cx="1930883" cy="301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6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50F5-8869-9835-1DC3-12EA3B01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EBA30-BD03-F434-8157-4FD8FB76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2D2D7B70-56C9-F884-181A-348E08B4FE1A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WEREWOLF 1/3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FC4CDC32-4B19-1D01-3B1C-8DBC3DDFCBA5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 dirty="0">
                <a:latin typeface="Times New Roman"/>
              </a:rPr>
              <a:t>Werewolf</a:t>
            </a:r>
            <a:r>
              <a:rPr lang="en-US" sz="2900" dirty="0">
                <a:latin typeface="Times New Roman"/>
              </a:rPr>
              <a:t>: why it</a:t>
            </a:r>
            <a:r>
              <a:rPr sz="2900" dirty="0">
                <a:latin typeface="Times New Roman"/>
              </a:rPr>
              <a:t> </a:t>
            </a:r>
            <a:r>
              <a:rPr lang="en" sz="2900" dirty="0">
                <a:latin typeface="Times New Roman"/>
              </a:rPr>
              <a:t>is</a:t>
            </a:r>
            <a:r>
              <a:rPr sz="2900" dirty="0">
                <a:latin typeface="Times New Roman"/>
              </a:rPr>
              <a:t> a useful anchor case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C8A05A-0D0C-F85F-5F97-3D3C7078D86B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564F40F-944E-36CF-B36F-DEA6ABB9499C}"/>
              </a:ext>
            </a:extLst>
          </p:cNvPr>
          <p:cNvSpPr txBox="1"/>
          <p:nvPr/>
        </p:nvSpPr>
        <p:spPr>
          <a:xfrm>
            <a:off x="685802" y="1115568"/>
            <a:ext cx="7498079" cy="65248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262626"/>
                </a:solidFill>
                <a:latin typeface="Times New Roman"/>
              </a:defRPr>
            </a:pPr>
            <a:r>
              <a:rPr sz="2000">
                <a:latin typeface="Times New Roman"/>
              </a:rPr>
              <a:t>The final outcome is produced by multi-turn communication under hidden information.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85CA7A5A-E6A2-0C7F-2F45-4B96871160FE}"/>
              </a:ext>
            </a:extLst>
          </p:cNvPr>
          <p:cNvSpPr/>
          <p:nvPr/>
        </p:nvSpPr>
        <p:spPr>
          <a:xfrm>
            <a:off x="685800" y="1965960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Private info</a:t>
            </a:r>
          </a:p>
        </p:txBody>
      </p:sp>
      <p:cxnSp>
        <p:nvCxnSpPr>
          <p:cNvPr id="8" name="Connector 9">
            <a:extLst>
              <a:ext uri="{FF2B5EF4-FFF2-40B4-BE49-F238E27FC236}">
                <a16:creationId xmlns:a16="http://schemas.microsoft.com/office/drawing/2014/main" id="{C2D8FF0E-C105-0A4B-3899-0C422C6D8786}"/>
              </a:ext>
            </a:extLst>
          </p:cNvPr>
          <p:cNvCxnSpPr/>
          <p:nvPr/>
        </p:nvCxnSpPr>
        <p:spPr>
          <a:xfrm>
            <a:off x="1856233" y="2121408"/>
            <a:ext cx="393193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0506B9D8-C9DA-8218-2A24-DC7DF803F4D0}"/>
              </a:ext>
            </a:extLst>
          </p:cNvPr>
          <p:cNvSpPr/>
          <p:nvPr/>
        </p:nvSpPr>
        <p:spPr>
          <a:xfrm>
            <a:off x="2286000" y="1965960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Public claims</a:t>
            </a:r>
          </a:p>
        </p:txBody>
      </p:sp>
      <p:cxnSp>
        <p:nvCxnSpPr>
          <p:cNvPr id="10" name="Connector 11">
            <a:extLst>
              <a:ext uri="{FF2B5EF4-FFF2-40B4-BE49-F238E27FC236}">
                <a16:creationId xmlns:a16="http://schemas.microsoft.com/office/drawing/2014/main" id="{03B27774-F4E3-371B-AE29-9582C21A2786}"/>
              </a:ext>
            </a:extLst>
          </p:cNvPr>
          <p:cNvCxnSpPr/>
          <p:nvPr/>
        </p:nvCxnSpPr>
        <p:spPr>
          <a:xfrm>
            <a:off x="3456432" y="2121408"/>
            <a:ext cx="393192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F2CC233E-4A11-B2DB-5863-3AF1F80DAA42}"/>
              </a:ext>
            </a:extLst>
          </p:cNvPr>
          <p:cNvSpPr/>
          <p:nvPr/>
        </p:nvSpPr>
        <p:spPr>
          <a:xfrm>
            <a:off x="3886200" y="1965960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Trust update</a:t>
            </a:r>
          </a:p>
        </p:txBody>
      </p:sp>
      <p:cxnSp>
        <p:nvCxnSpPr>
          <p:cNvPr id="12" name="Connector 13">
            <a:extLst>
              <a:ext uri="{FF2B5EF4-FFF2-40B4-BE49-F238E27FC236}">
                <a16:creationId xmlns:a16="http://schemas.microsoft.com/office/drawing/2014/main" id="{87AC378E-6E84-5C9E-A721-C2EDF92A2707}"/>
              </a:ext>
            </a:extLst>
          </p:cNvPr>
          <p:cNvCxnSpPr/>
          <p:nvPr/>
        </p:nvCxnSpPr>
        <p:spPr>
          <a:xfrm>
            <a:off x="5056632" y="2121408"/>
            <a:ext cx="393192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4BC61ED9-1C36-ED27-CA55-74EBDB989402}"/>
              </a:ext>
            </a:extLst>
          </p:cNvPr>
          <p:cNvSpPr/>
          <p:nvPr/>
        </p:nvSpPr>
        <p:spPr>
          <a:xfrm>
            <a:off x="5486400" y="1965960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Role action</a:t>
            </a:r>
          </a:p>
        </p:txBody>
      </p:sp>
      <p:cxnSp>
        <p:nvCxnSpPr>
          <p:cNvPr id="14" name="Connector 15">
            <a:extLst>
              <a:ext uri="{FF2B5EF4-FFF2-40B4-BE49-F238E27FC236}">
                <a16:creationId xmlns:a16="http://schemas.microsoft.com/office/drawing/2014/main" id="{CE6C5D72-7BA7-401A-4C86-0956A46079DB}"/>
              </a:ext>
            </a:extLst>
          </p:cNvPr>
          <p:cNvCxnSpPr/>
          <p:nvPr/>
        </p:nvCxnSpPr>
        <p:spPr>
          <a:xfrm>
            <a:off x="6656832" y="2121408"/>
            <a:ext cx="393192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0D29FB2-A85D-D9A8-FDB5-AE69EC2A17A9}"/>
              </a:ext>
            </a:extLst>
          </p:cNvPr>
          <p:cNvSpPr/>
          <p:nvPr/>
        </p:nvSpPr>
        <p:spPr>
          <a:xfrm>
            <a:off x="7086600" y="1965960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Voting</a:t>
            </a: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2709AC36-59EA-D720-1BF5-19382A0CF693}"/>
              </a:ext>
            </a:extLst>
          </p:cNvPr>
          <p:cNvSpPr/>
          <p:nvPr/>
        </p:nvSpPr>
        <p:spPr>
          <a:xfrm>
            <a:off x="832104" y="2703871"/>
            <a:ext cx="2057400" cy="1234440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01F28709-AE1A-7731-B4FE-E02FAA73FD15}"/>
              </a:ext>
            </a:extLst>
          </p:cNvPr>
          <p:cNvSpPr txBox="1"/>
          <p:nvPr/>
        </p:nvSpPr>
        <p:spPr>
          <a:xfrm>
            <a:off x="941834" y="2786167"/>
            <a:ext cx="1837943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Belief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79FBC39E-7610-A9E7-88FF-AA0E630AC5BE}"/>
              </a:ext>
            </a:extLst>
          </p:cNvPr>
          <p:cNvSpPr txBox="1"/>
          <p:nvPr/>
        </p:nvSpPr>
        <p:spPr>
          <a:xfrm>
            <a:off x="941834" y="3142785"/>
            <a:ext cx="1837943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300">
                <a:latin typeface="Times New Roman"/>
              </a:rPr>
              <a:t>Seer checks and speeches change suspicion.</a:t>
            </a:r>
          </a:p>
        </p:txBody>
      </p:sp>
      <p:sp>
        <p:nvSpPr>
          <p:cNvPr id="19" name="Rounded Rectangle 20">
            <a:extLst>
              <a:ext uri="{FF2B5EF4-FFF2-40B4-BE49-F238E27FC236}">
                <a16:creationId xmlns:a16="http://schemas.microsoft.com/office/drawing/2014/main" id="{BBF6A733-F3F0-CBF3-A89D-F45E492D8D6A}"/>
              </a:ext>
            </a:extLst>
          </p:cNvPr>
          <p:cNvSpPr/>
          <p:nvPr/>
        </p:nvSpPr>
        <p:spPr>
          <a:xfrm>
            <a:off x="3392424" y="2703871"/>
            <a:ext cx="2057400" cy="1234440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FACA1D4D-4D76-7603-8B48-C647191C1C4F}"/>
              </a:ext>
            </a:extLst>
          </p:cNvPr>
          <p:cNvSpPr txBox="1"/>
          <p:nvPr/>
        </p:nvSpPr>
        <p:spPr>
          <a:xfrm>
            <a:off x="3502154" y="2786167"/>
            <a:ext cx="1837943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Action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B003F5F3-D4CF-C435-0B05-B0950E42ADB1}"/>
              </a:ext>
            </a:extLst>
          </p:cNvPr>
          <p:cNvSpPr txBox="1"/>
          <p:nvPr/>
        </p:nvSpPr>
        <p:spPr>
          <a:xfrm>
            <a:off x="3502154" y="3142785"/>
            <a:ext cx="1837943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300">
                <a:latin typeface="Times New Roman"/>
              </a:rPr>
              <a:t>Guard, Witch, and voters respond to discussion.</a:t>
            </a:r>
          </a:p>
        </p:txBody>
      </p:sp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513D0952-B568-DDC0-2034-4EA41479A705}"/>
              </a:ext>
            </a:extLst>
          </p:cNvPr>
          <p:cNvSpPr/>
          <p:nvPr/>
        </p:nvSpPr>
        <p:spPr>
          <a:xfrm>
            <a:off x="5952744" y="2703871"/>
            <a:ext cx="2057400" cy="1234440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09ED022A-417E-7515-5D21-C02A55AD3738}"/>
              </a:ext>
            </a:extLst>
          </p:cNvPr>
          <p:cNvSpPr txBox="1"/>
          <p:nvPr/>
        </p:nvSpPr>
        <p:spPr>
          <a:xfrm>
            <a:off x="6062474" y="2786167"/>
            <a:ext cx="1837943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Group behavior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E7F34082-5DC4-C073-C4FE-9FB2B1BC9AFA}"/>
              </a:ext>
            </a:extLst>
          </p:cNvPr>
          <p:cNvSpPr txBox="1"/>
          <p:nvPr/>
        </p:nvSpPr>
        <p:spPr>
          <a:xfrm>
            <a:off x="6062474" y="3142785"/>
            <a:ext cx="1837943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300">
                <a:latin typeface="Times New Roman"/>
              </a:rPr>
              <a:t>Coordination can produce bloc voting or confusion.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9F517FFE-3245-2ADF-B921-941A72DBEF1F}"/>
              </a:ext>
            </a:extLst>
          </p:cNvPr>
          <p:cNvSpPr txBox="1"/>
          <p:nvPr/>
        </p:nvSpPr>
        <p:spPr>
          <a:xfrm>
            <a:off x="320041" y="4174236"/>
            <a:ext cx="8229599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0">
                <a:solidFill>
                  <a:srgbClr val="64606E"/>
                </a:solidFill>
                <a:latin typeface="Times New Roman"/>
              </a:defRPr>
            </a:pPr>
            <a:r>
              <a:rPr sz="1600" dirty="0" err="1">
                <a:latin typeface="Times New Roman"/>
              </a:rPr>
              <a:t>MultiAgentBench</a:t>
            </a:r>
            <a:r>
              <a:rPr sz="1600" dirty="0">
                <a:latin typeface="Times New Roman"/>
              </a:rPr>
              <a:t> treats Werewolf as a conflicting-goal social simulation, not a static QA task.</a:t>
            </a:r>
          </a:p>
        </p:txBody>
      </p:sp>
    </p:spTree>
    <p:extLst>
      <p:ext uri="{BB962C8B-B14F-4D97-AF65-F5344CB8AC3E}">
        <p14:creationId xmlns:p14="http://schemas.microsoft.com/office/powerpoint/2010/main" val="291874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6400-8CC4-785D-A09E-46E7EAF6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FE139-21F6-2B1F-B4B8-BB89ACBF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C9A003A3-1AB0-E890-3CC2-1EF86330CAF8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WEREWOLF 2/3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F5361C8-885B-E593-5CEE-E8820347FDE1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>
                <a:latin typeface="Times New Roman"/>
              </a:rPr>
              <a:t>How MultiAgentBench evaluates Werewolf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626D7B-BE5E-5AA9-CD4D-DFFA3B3C5B91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97449BE5-83E3-23C0-740C-5BD5EE29EC37}"/>
              </a:ext>
            </a:extLst>
          </p:cNvPr>
          <p:cNvSpPr/>
          <p:nvPr/>
        </p:nvSpPr>
        <p:spPr>
          <a:xfrm>
            <a:off x="880054" y="1170934"/>
            <a:ext cx="3003883" cy="1043877"/>
          </a:xfrm>
          <a:prstGeom prst="roundRect">
            <a:avLst/>
          </a:prstGeom>
          <a:solidFill>
            <a:srgbClr val="EFF4FC"/>
          </a:solidFill>
          <a:ln w="13970">
            <a:solidFill>
              <a:srgbClr val="45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19F79B06-8C4F-5B48-17A3-19FFE7DA3BE9}"/>
              </a:ext>
            </a:extLst>
          </p:cNvPr>
          <p:cNvSpPr txBox="1"/>
          <p:nvPr/>
        </p:nvSpPr>
        <p:spPr>
          <a:xfrm>
            <a:off x="989783" y="1253230"/>
            <a:ext cx="1929384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4574B8"/>
                </a:solidFill>
                <a:latin typeface="Times New Roman"/>
              </a:defRPr>
            </a:pPr>
            <a:r>
              <a:rPr sz="1500" dirty="0">
                <a:latin typeface="Times New Roman"/>
              </a:rPr>
              <a:t>Partial-day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0E3D775D-FF7B-BCE8-C1B4-EF7CB89933B0}"/>
              </a:ext>
            </a:extLst>
          </p:cNvPr>
          <p:cNvSpPr txBox="1"/>
          <p:nvPr/>
        </p:nvSpPr>
        <p:spPr>
          <a:xfrm>
            <a:off x="989780" y="1537012"/>
            <a:ext cx="2821727" cy="6001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220" dirty="0">
                <a:latin typeface="Times New Roman"/>
              </a:rPr>
              <a:t>One day-night cycle.</a:t>
            </a:r>
            <a:br>
              <a:rPr sz="1220" dirty="0"/>
            </a:br>
            <a:r>
              <a:rPr sz="1220" dirty="0">
                <a:latin typeface="Times New Roman"/>
              </a:rPr>
              <a:t>Tasks: protect Seer, exile a werewolf, rescue or poison.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93B2CDF7-70F5-8CB8-D9FF-D4A6E11FC220}"/>
              </a:ext>
            </a:extLst>
          </p:cNvPr>
          <p:cNvSpPr/>
          <p:nvPr/>
        </p:nvSpPr>
        <p:spPr>
          <a:xfrm>
            <a:off x="880053" y="2442459"/>
            <a:ext cx="3003884" cy="901810"/>
          </a:xfrm>
          <a:prstGeom prst="roundRect">
            <a:avLst/>
          </a:prstGeom>
          <a:solidFill>
            <a:srgbClr val="FCF7ED"/>
          </a:solidFill>
          <a:ln w="13970">
            <a:solidFill>
              <a:srgbClr val="CE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4253ABF8-E275-43EA-7CCB-C18DF0BC8E7A}"/>
              </a:ext>
            </a:extLst>
          </p:cNvPr>
          <p:cNvSpPr txBox="1"/>
          <p:nvPr/>
        </p:nvSpPr>
        <p:spPr>
          <a:xfrm>
            <a:off x="989781" y="2524754"/>
            <a:ext cx="2166195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CE973E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Full-game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AC8207CE-0823-B606-9159-2F9BC2183BAD}"/>
              </a:ext>
            </a:extLst>
          </p:cNvPr>
          <p:cNvSpPr txBox="1"/>
          <p:nvPr/>
        </p:nvSpPr>
        <p:spPr>
          <a:xfrm>
            <a:off x="989780" y="2825901"/>
            <a:ext cx="2690928" cy="4124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220" dirty="0">
                <a:latin typeface="Times New Roman"/>
              </a:rPr>
              <a:t>Entire match from Night 0.</a:t>
            </a:r>
            <a:br>
              <a:rPr sz="1220" dirty="0"/>
            </a:br>
            <a:r>
              <a:rPr sz="1220" dirty="0">
                <a:latin typeface="Times New Roman"/>
              </a:rPr>
              <a:t>Outcome: win rate, result score, net score.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E6ACF243-5ED5-8C80-D9BA-551C710C89F8}"/>
              </a:ext>
            </a:extLst>
          </p:cNvPr>
          <p:cNvSpPr/>
          <p:nvPr/>
        </p:nvSpPr>
        <p:spPr>
          <a:xfrm>
            <a:off x="880053" y="3590368"/>
            <a:ext cx="3003884" cy="831371"/>
          </a:xfrm>
          <a:prstGeom prst="roundRect">
            <a:avLst/>
          </a:prstGeom>
          <a:solidFill>
            <a:srgbClr val="EEF8F3"/>
          </a:solidFill>
          <a:ln w="13970">
            <a:solidFill>
              <a:srgbClr val="3D9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7787C3A6-25D7-B4BD-DA10-6D0395E2138D}"/>
              </a:ext>
            </a:extLst>
          </p:cNvPr>
          <p:cNvSpPr txBox="1"/>
          <p:nvPr/>
        </p:nvSpPr>
        <p:spPr>
          <a:xfrm>
            <a:off x="989781" y="3672664"/>
            <a:ext cx="1929384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3D916F"/>
                </a:solidFill>
                <a:latin typeface="Times New Roman"/>
              </a:defRPr>
            </a:pPr>
            <a:r>
              <a:rPr sz="1500" dirty="0">
                <a:latin typeface="Times New Roman"/>
              </a:rPr>
              <a:t>Collaboration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D4DD7E3E-E558-C190-1FD1-54E9202DE9F3}"/>
              </a:ext>
            </a:extLst>
          </p:cNvPr>
          <p:cNvSpPr txBox="1"/>
          <p:nvPr/>
        </p:nvSpPr>
        <p:spPr>
          <a:xfrm>
            <a:off x="989781" y="3940430"/>
            <a:ext cx="2690927" cy="4124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220" dirty="0">
                <a:latin typeface="Times New Roman"/>
              </a:rPr>
              <a:t>Communication Score + Planning Score from logs and internal reasoning.</a:t>
            </a:r>
          </a:p>
        </p:txBody>
      </p:sp>
      <p:pic>
        <p:nvPicPr>
          <p:cNvPr id="15" name="Picture 18" descr="werewolf_scoring.png">
            <a:extLst>
              <a:ext uri="{FF2B5EF4-FFF2-40B4-BE49-F238E27FC236}">
                <a16:creationId xmlns:a16="http://schemas.microsoft.com/office/drawing/2014/main" id="{0A22FDFF-D25E-3F2E-E47F-2ADF8933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9" b="27645"/>
          <a:stretch>
            <a:fillRect/>
          </a:stretch>
        </p:blipFill>
        <p:spPr>
          <a:xfrm>
            <a:off x="3950311" y="969265"/>
            <a:ext cx="2602889" cy="3703556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6B0EA713-6871-7F31-F314-83411F1A0C2B}"/>
              </a:ext>
            </a:extLst>
          </p:cNvPr>
          <p:cNvSpPr txBox="1"/>
          <p:nvPr/>
        </p:nvSpPr>
        <p:spPr>
          <a:xfrm>
            <a:off x="6668960" y="2700677"/>
            <a:ext cx="2475040" cy="102181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3A1C5C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The point is not only who wins. The benchmark also observes role actions and coordination quality.</a:t>
            </a:r>
          </a:p>
        </p:txBody>
      </p:sp>
      <p:pic>
        <p:nvPicPr>
          <p:cNvPr id="18" name="Picture 18" descr="werewolf_scoring.png">
            <a:extLst>
              <a:ext uri="{FF2B5EF4-FFF2-40B4-BE49-F238E27FC236}">
                <a16:creationId xmlns:a16="http://schemas.microsoft.com/office/drawing/2014/main" id="{8D6E0024-7289-F333-BF9E-2715F973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45" t="72327" b="6660"/>
          <a:stretch>
            <a:fillRect/>
          </a:stretch>
        </p:blipFill>
        <p:spPr>
          <a:xfrm>
            <a:off x="6619574" y="1039930"/>
            <a:ext cx="2440343" cy="11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6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12E6-0798-AF8B-62C7-965C99B01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B4725-1EE7-B84F-1E31-A406B90D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F311F7E1-C727-1A6C-FB88-E47C49558B58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PAPER 1 ANSWER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824984B5-2103-FD56-94C1-744EE2420D18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>
                <a:latin typeface="Times New Roman"/>
              </a:rPr>
              <a:t>MultiAgentBench takeaway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6107DBA5-126D-2ACB-A48B-5604121F7B87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0CFCA860-8FBA-BD8C-CFAD-D3C7D064D196}"/>
              </a:ext>
            </a:extLst>
          </p:cNvPr>
          <p:cNvSpPr/>
          <p:nvPr/>
        </p:nvSpPr>
        <p:spPr>
          <a:xfrm>
            <a:off x="787941" y="3184887"/>
            <a:ext cx="2103120" cy="989349"/>
          </a:xfrm>
          <a:prstGeom prst="roundRect">
            <a:avLst/>
          </a:prstGeom>
          <a:solidFill>
            <a:srgbClr val="EFF4FC"/>
          </a:solidFill>
          <a:ln w="13970">
            <a:solidFill>
              <a:srgbClr val="45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70916E0E-B8CB-3402-3119-D43DB0298C2D}"/>
              </a:ext>
            </a:extLst>
          </p:cNvPr>
          <p:cNvSpPr txBox="1"/>
          <p:nvPr/>
        </p:nvSpPr>
        <p:spPr>
          <a:xfrm>
            <a:off x="897670" y="3267183"/>
            <a:ext cx="1883663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4574B8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What it tells us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C8BCB388-8ACD-9184-2E0F-9D8C0C4A09DD}"/>
              </a:ext>
            </a:extLst>
          </p:cNvPr>
          <p:cNvSpPr txBox="1"/>
          <p:nvPr/>
        </p:nvSpPr>
        <p:spPr>
          <a:xfrm>
            <a:off x="897670" y="3623801"/>
            <a:ext cx="1883663" cy="430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80" b="0">
                <a:solidFill>
                  <a:srgbClr val="262626"/>
                </a:solidFill>
                <a:latin typeface="Times New Roman"/>
              </a:defRPr>
            </a:pPr>
            <a:r>
              <a:rPr sz="1280" dirty="0">
                <a:latin typeface="Times New Roman"/>
              </a:rPr>
              <a:t>Whether interaction quality is high or low.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D477901E-52EE-844F-06EF-F3E78AF877D6}"/>
              </a:ext>
            </a:extLst>
          </p:cNvPr>
          <p:cNvSpPr/>
          <p:nvPr/>
        </p:nvSpPr>
        <p:spPr>
          <a:xfrm>
            <a:off x="3337560" y="3185230"/>
            <a:ext cx="2103120" cy="989006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B51FD81C-0B43-8C4A-A9E3-8CE9166D3D56}"/>
              </a:ext>
            </a:extLst>
          </p:cNvPr>
          <p:cNvSpPr txBox="1"/>
          <p:nvPr/>
        </p:nvSpPr>
        <p:spPr>
          <a:xfrm>
            <a:off x="3447290" y="3267526"/>
            <a:ext cx="1883663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sz="1500" dirty="0">
                <a:latin typeface="Times New Roman"/>
              </a:rPr>
              <a:t>Why this matters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EDC73A45-B6EC-249D-E217-2DB8D5F59F18}"/>
              </a:ext>
            </a:extLst>
          </p:cNvPr>
          <p:cNvSpPr txBox="1"/>
          <p:nvPr/>
        </p:nvSpPr>
        <p:spPr>
          <a:xfrm>
            <a:off x="3447290" y="3624144"/>
            <a:ext cx="1883663" cy="430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80" b="0">
                <a:solidFill>
                  <a:srgbClr val="262626"/>
                </a:solidFill>
                <a:latin typeface="Times New Roman"/>
              </a:defRPr>
            </a:pPr>
            <a:r>
              <a:rPr sz="1280">
                <a:latin typeface="Times New Roman"/>
              </a:rPr>
              <a:t>Task score and coordination score can diverge.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595E8B2A-1005-34D1-5B40-89565F3F499F}"/>
              </a:ext>
            </a:extLst>
          </p:cNvPr>
          <p:cNvSpPr/>
          <p:nvPr/>
        </p:nvSpPr>
        <p:spPr>
          <a:xfrm>
            <a:off x="5887179" y="3184887"/>
            <a:ext cx="2103120" cy="989006"/>
          </a:xfrm>
          <a:prstGeom prst="roundRect">
            <a:avLst/>
          </a:prstGeom>
          <a:solidFill>
            <a:srgbClr val="FDF0F3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BA99AF52-2B14-8ABD-4F7A-557F40008E88}"/>
              </a:ext>
            </a:extLst>
          </p:cNvPr>
          <p:cNvSpPr txBox="1"/>
          <p:nvPr/>
        </p:nvSpPr>
        <p:spPr>
          <a:xfrm>
            <a:off x="5996909" y="3267183"/>
            <a:ext cx="1883663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CF4F61"/>
                </a:solidFill>
                <a:latin typeface="Times New Roman"/>
              </a:defRPr>
            </a:pPr>
            <a:r>
              <a:rPr sz="1500">
                <a:latin typeface="Times New Roman"/>
              </a:rPr>
              <a:t>Limit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88276C6F-5B24-F051-805A-AED84E3CDA2E}"/>
              </a:ext>
            </a:extLst>
          </p:cNvPr>
          <p:cNvSpPr txBox="1"/>
          <p:nvPr/>
        </p:nvSpPr>
        <p:spPr>
          <a:xfrm>
            <a:off x="5996909" y="3623801"/>
            <a:ext cx="1883663" cy="430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80" b="0">
                <a:solidFill>
                  <a:srgbClr val="262626"/>
                </a:solidFill>
                <a:latin typeface="Times New Roman"/>
              </a:defRPr>
            </a:pPr>
            <a:r>
              <a:rPr sz="1280">
                <a:latin typeface="Times New Roman"/>
              </a:rPr>
              <a:t>A low score still does not identify the root cause.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186360-AC99-8676-624C-E389F719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4" y="1098701"/>
            <a:ext cx="8132005" cy="193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47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948C8-D947-EB04-9C80-76DA3E3C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D156A-9435-744B-6CE5-53B3C37C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25828" y="3919215"/>
            <a:ext cx="2133600" cy="273844"/>
          </a:xfrm>
        </p:spPr>
        <p:txBody>
          <a:bodyPr/>
          <a:lstStyle/>
          <a:p>
            <a:fld id="{106E12CD-FCB1-464E-A775-0B83FDDACE0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6EC470A4-3970-D0F3-98AC-BAE1B6CC7229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BRIDGE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F24F6A2F-2ABE-A997-0180-698D7E1E5311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 dirty="0">
                <a:latin typeface="Times New Roman"/>
              </a:rPr>
              <a:t>Evaluation tells us what, not why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925054-35F6-C9C0-245C-DE08D15BAD17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0D32AAB8-89ED-B8AE-E6B5-C987D0B7DE56}"/>
              </a:ext>
            </a:extLst>
          </p:cNvPr>
          <p:cNvSpPr txBox="1"/>
          <p:nvPr/>
        </p:nvSpPr>
        <p:spPr>
          <a:xfrm>
            <a:off x="822960" y="1102327"/>
            <a:ext cx="8046720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100" b="1">
                <a:solidFill>
                  <a:srgbClr val="262626"/>
                </a:solidFill>
                <a:latin typeface="Times New Roman"/>
              </a:defRPr>
            </a:pPr>
            <a:r>
              <a:rPr sz="2000" dirty="0">
                <a:latin typeface="Times New Roman"/>
              </a:rPr>
              <a:t>A low communication score is an observation, not yet an explanation.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147D86F1-2357-FBCB-D073-22928A024496}"/>
              </a:ext>
            </a:extLst>
          </p:cNvPr>
          <p:cNvSpPr/>
          <p:nvPr/>
        </p:nvSpPr>
        <p:spPr>
          <a:xfrm>
            <a:off x="1124712" y="1703548"/>
            <a:ext cx="2020824" cy="64007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A3E985C9-3027-9ACF-8458-86F58040027A}"/>
              </a:ext>
            </a:extLst>
          </p:cNvPr>
          <p:cNvSpPr txBox="1"/>
          <p:nvPr/>
        </p:nvSpPr>
        <p:spPr>
          <a:xfrm>
            <a:off x="1234440" y="1867667"/>
            <a:ext cx="2020824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600" b="1" dirty="0">
                <a:solidFill>
                  <a:srgbClr val="542A84"/>
                </a:solidFill>
                <a:latin typeface="Times New Roman"/>
              </a:rPr>
              <a:t>Seer's claim ignored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C97E7A7D-A17D-B46C-AC0C-7A7B006045B1}"/>
              </a:ext>
            </a:extLst>
          </p:cNvPr>
          <p:cNvSpPr/>
          <p:nvPr/>
        </p:nvSpPr>
        <p:spPr>
          <a:xfrm>
            <a:off x="3639312" y="1703548"/>
            <a:ext cx="2130552" cy="64007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663A394B-D4E6-EC58-A12C-37DDDE7D6B3F}"/>
              </a:ext>
            </a:extLst>
          </p:cNvPr>
          <p:cNvSpPr txBox="1"/>
          <p:nvPr/>
        </p:nvSpPr>
        <p:spPr>
          <a:xfrm>
            <a:off x="3749040" y="1867667"/>
            <a:ext cx="2020824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600" b="1" dirty="0">
                <a:solidFill>
                  <a:srgbClr val="542A84"/>
                </a:solidFill>
                <a:latin typeface="Times New Roman"/>
              </a:rPr>
              <a:t>Private info withheld</a:t>
            </a:r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ECA49F23-0585-4586-226D-2AD9D38AFF46}"/>
              </a:ext>
            </a:extLst>
          </p:cNvPr>
          <p:cNvSpPr/>
          <p:nvPr/>
        </p:nvSpPr>
        <p:spPr>
          <a:xfrm>
            <a:off x="6153914" y="1703553"/>
            <a:ext cx="1736309" cy="64007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E38F5470-0EB6-863C-C3BF-D2106A6EF232}"/>
              </a:ext>
            </a:extLst>
          </p:cNvPr>
          <p:cNvSpPr txBox="1"/>
          <p:nvPr/>
        </p:nvSpPr>
        <p:spPr>
          <a:xfrm>
            <a:off x="2817930" y="2690308"/>
            <a:ext cx="4204138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542A84"/>
                </a:solidFill>
                <a:latin typeface="Times New Roman"/>
              </a:defRPr>
            </a:pPr>
            <a:r>
              <a:rPr lang="en-US" altLang="zh-CN" sz="2000" dirty="0">
                <a:latin typeface="Times New Roman"/>
              </a:rPr>
              <a:t>Can result in </a:t>
            </a:r>
            <a:r>
              <a:rPr sz="2000" dirty="0">
                <a:latin typeface="Times New Roman"/>
              </a:rPr>
              <a:t>S</a:t>
            </a:r>
            <a:r>
              <a:rPr lang="en-US" sz="2000" dirty="0">
                <a:latin typeface="Times New Roman"/>
              </a:rPr>
              <a:t>AME</a:t>
            </a:r>
            <a:r>
              <a:rPr sz="2000" dirty="0">
                <a:latin typeface="Times New Roman"/>
              </a:rPr>
              <a:t> low score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43063528-5CD0-10C4-04F7-2AF66843452B}"/>
              </a:ext>
            </a:extLst>
          </p:cNvPr>
          <p:cNvSpPr txBox="1"/>
          <p:nvPr/>
        </p:nvSpPr>
        <p:spPr>
          <a:xfrm>
            <a:off x="6263640" y="1867667"/>
            <a:ext cx="2020824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sz="1600" b="1" dirty="0">
                <a:solidFill>
                  <a:srgbClr val="542A84"/>
                </a:solidFill>
                <a:latin typeface="Times New Roman"/>
              </a:rPr>
              <a:t>Vote not verified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C48E8D46-2902-A883-A24E-F1CFA35E70BC}"/>
              </a:ext>
            </a:extLst>
          </p:cNvPr>
          <p:cNvSpPr/>
          <p:nvPr/>
        </p:nvSpPr>
        <p:spPr>
          <a:xfrm>
            <a:off x="1901428" y="3403911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CF4F61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Score</a:t>
            </a:r>
          </a:p>
        </p:txBody>
      </p:sp>
      <p:cxnSp>
        <p:nvCxnSpPr>
          <p:cNvPr id="15" name="Connector 18">
            <a:extLst>
              <a:ext uri="{FF2B5EF4-FFF2-40B4-BE49-F238E27FC236}">
                <a16:creationId xmlns:a16="http://schemas.microsoft.com/office/drawing/2014/main" id="{036CD820-A21E-FD25-4749-EE42676E2468}"/>
              </a:ext>
            </a:extLst>
          </p:cNvPr>
          <p:cNvCxnSpPr/>
          <p:nvPr/>
        </p:nvCxnSpPr>
        <p:spPr>
          <a:xfrm>
            <a:off x="3071860" y="3559359"/>
            <a:ext cx="781812" cy="0"/>
          </a:xfrm>
          <a:prstGeom prst="line">
            <a:avLst/>
          </a:prstGeom>
          <a:ln w="20320">
            <a:solidFill>
              <a:srgbClr val="CF4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78638EB4-466A-2D9B-283B-CC3054C8F4F8}"/>
              </a:ext>
            </a:extLst>
          </p:cNvPr>
          <p:cNvSpPr/>
          <p:nvPr/>
        </p:nvSpPr>
        <p:spPr>
          <a:xfrm>
            <a:off x="3890248" y="3403911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CF4F61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Trace</a:t>
            </a:r>
          </a:p>
        </p:txBody>
      </p:sp>
      <p:cxnSp>
        <p:nvCxnSpPr>
          <p:cNvPr id="19" name="Connector 20">
            <a:extLst>
              <a:ext uri="{FF2B5EF4-FFF2-40B4-BE49-F238E27FC236}">
                <a16:creationId xmlns:a16="http://schemas.microsoft.com/office/drawing/2014/main" id="{A64CE288-6169-8CEC-3CD9-38B096410F02}"/>
              </a:ext>
            </a:extLst>
          </p:cNvPr>
          <p:cNvCxnSpPr/>
          <p:nvPr/>
        </p:nvCxnSpPr>
        <p:spPr>
          <a:xfrm>
            <a:off x="5060680" y="3559359"/>
            <a:ext cx="781812" cy="0"/>
          </a:xfrm>
          <a:prstGeom prst="line">
            <a:avLst/>
          </a:prstGeom>
          <a:ln w="20320">
            <a:solidFill>
              <a:srgbClr val="CF4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00DCE67B-619B-E815-AE6D-486DD74990F3}"/>
              </a:ext>
            </a:extLst>
          </p:cNvPr>
          <p:cNvSpPr/>
          <p:nvPr/>
        </p:nvSpPr>
        <p:spPr>
          <a:xfrm>
            <a:off x="5879068" y="3403911"/>
            <a:ext cx="1143000" cy="384048"/>
          </a:xfrm>
          <a:prstGeom prst="roundRect">
            <a:avLst/>
          </a:prstGeom>
          <a:solidFill>
            <a:srgbClr val="F6F2FA"/>
          </a:solidFill>
          <a:ln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CF4F61"/>
                </a:solidFill>
                <a:latin typeface="Times New Roman"/>
              </a:defRPr>
            </a:pPr>
            <a:r>
              <a:rPr sz="1250">
                <a:latin typeface="Times New Roman"/>
              </a:rPr>
              <a:t>Failure mode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545F091-0BDB-9489-CEBB-BFACE169D5F4}"/>
              </a:ext>
            </a:extLst>
          </p:cNvPr>
          <p:cNvSpPr txBox="1"/>
          <p:nvPr/>
        </p:nvSpPr>
        <p:spPr>
          <a:xfrm>
            <a:off x="379379" y="3955790"/>
            <a:ext cx="8380049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CF4F61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This is where MAST enters: it names the failure mechanism, so evaluation becomes actionable.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F6E619C2-5370-53F8-F4A5-E6E05A68E9D0}"/>
              </a:ext>
            </a:extLst>
          </p:cNvPr>
          <p:cNvSpPr txBox="1">
            <a:spLocks/>
          </p:cNvSpPr>
          <p:nvPr/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6E12CD-FCB1-464E-A775-0B83FDDACE0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18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57B46-6521-F09C-867B-47F2E865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D3671-6DDF-2C93-E5FE-A3B0F3BA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D75BE64B-8AB8-2E27-7C76-45C91513D347}"/>
              </a:ext>
            </a:extLst>
          </p:cNvPr>
          <p:cNvSpPr txBox="1"/>
          <p:nvPr/>
        </p:nvSpPr>
        <p:spPr>
          <a:xfrm>
            <a:off x="640080" y="330613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PAPER 2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02EA9738-F3EA-6533-9A9A-59BBC4D7BEEA}"/>
              </a:ext>
            </a:extLst>
          </p:cNvPr>
          <p:cNvSpPr txBox="1"/>
          <p:nvPr/>
        </p:nvSpPr>
        <p:spPr>
          <a:xfrm>
            <a:off x="640080" y="495205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>
                <a:latin typeface="Times New Roman"/>
              </a:rPr>
              <a:t>MAST: from scoring to diagnosis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D84BB540-E781-A5CC-18D2-B5D3578FD3AA}"/>
              </a:ext>
            </a:extLst>
          </p:cNvPr>
          <p:cNvSpPr/>
          <p:nvPr/>
        </p:nvSpPr>
        <p:spPr>
          <a:xfrm>
            <a:off x="640080" y="1043843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0FF5A9DF-D615-319E-5DF2-4C48DC86FA80}"/>
              </a:ext>
            </a:extLst>
          </p:cNvPr>
          <p:cNvSpPr/>
          <p:nvPr/>
        </p:nvSpPr>
        <p:spPr>
          <a:xfrm>
            <a:off x="6812280" y="1143006"/>
            <a:ext cx="1993392" cy="997079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07906F16-2DFD-088E-618D-C097061F98DF}"/>
              </a:ext>
            </a:extLst>
          </p:cNvPr>
          <p:cNvSpPr txBox="1"/>
          <p:nvPr/>
        </p:nvSpPr>
        <p:spPr>
          <a:xfrm>
            <a:off x="6922011" y="1225304"/>
            <a:ext cx="1805778" cy="26007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50" b="1">
                <a:solidFill>
                  <a:srgbClr val="542A84"/>
                </a:solidFill>
                <a:latin typeface="Times New Roman"/>
              </a:defRPr>
            </a:pPr>
            <a:r>
              <a:rPr sz="1450">
                <a:latin typeface="Times New Roman"/>
              </a:rPr>
              <a:t>System Design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823CC655-BB38-8704-4EBB-A4D91DF456C2}"/>
              </a:ext>
            </a:extLst>
          </p:cNvPr>
          <p:cNvSpPr txBox="1"/>
          <p:nvPr/>
        </p:nvSpPr>
        <p:spPr>
          <a:xfrm>
            <a:off x="6922011" y="1581920"/>
            <a:ext cx="1805778" cy="4124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220" dirty="0">
                <a:latin typeface="Times New Roman"/>
              </a:rPr>
              <a:t>Roles, prompts, memory, workflow, termination.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79A25597-C1FA-6377-6E4A-36E002996442}"/>
              </a:ext>
            </a:extLst>
          </p:cNvPr>
          <p:cNvSpPr/>
          <p:nvPr/>
        </p:nvSpPr>
        <p:spPr>
          <a:xfrm>
            <a:off x="6812280" y="2396480"/>
            <a:ext cx="1993392" cy="866114"/>
          </a:xfrm>
          <a:prstGeom prst="roundRect">
            <a:avLst/>
          </a:prstGeom>
          <a:solidFill>
            <a:srgbClr val="FDF0F3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BFC1051-9741-4CFC-7C55-8659AD217EFD}"/>
              </a:ext>
            </a:extLst>
          </p:cNvPr>
          <p:cNvSpPr txBox="1"/>
          <p:nvPr/>
        </p:nvSpPr>
        <p:spPr>
          <a:xfrm>
            <a:off x="6922011" y="2478777"/>
            <a:ext cx="1805778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50" b="1">
                <a:solidFill>
                  <a:srgbClr val="CF4F61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Inter-Agent Misalignment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AD118B42-004B-90BD-76D5-F942519724D7}"/>
              </a:ext>
            </a:extLst>
          </p:cNvPr>
          <p:cNvSpPr txBox="1"/>
          <p:nvPr/>
        </p:nvSpPr>
        <p:spPr>
          <a:xfrm>
            <a:off x="6922011" y="2774955"/>
            <a:ext cx="1805778" cy="4124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220" dirty="0">
                <a:latin typeface="Times New Roman"/>
              </a:rPr>
              <a:t>Information flow and coordination break down.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19A7BE10-0471-A991-6C21-5C5AC7CF1188}"/>
              </a:ext>
            </a:extLst>
          </p:cNvPr>
          <p:cNvSpPr/>
          <p:nvPr/>
        </p:nvSpPr>
        <p:spPr>
          <a:xfrm>
            <a:off x="6812280" y="3518989"/>
            <a:ext cx="2057400" cy="936639"/>
          </a:xfrm>
          <a:prstGeom prst="roundRect">
            <a:avLst/>
          </a:prstGeom>
          <a:solidFill>
            <a:srgbClr val="EEF8F3"/>
          </a:solidFill>
          <a:ln w="13970">
            <a:solidFill>
              <a:srgbClr val="3D9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4A806CA0-5040-6338-7FF9-2A8AB8AAFD3E}"/>
              </a:ext>
            </a:extLst>
          </p:cNvPr>
          <p:cNvSpPr txBox="1"/>
          <p:nvPr/>
        </p:nvSpPr>
        <p:spPr>
          <a:xfrm>
            <a:off x="6922010" y="3601287"/>
            <a:ext cx="1837943" cy="26007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50" b="1">
                <a:solidFill>
                  <a:srgbClr val="3D916F"/>
                </a:solidFill>
                <a:latin typeface="Times New Roman"/>
              </a:defRPr>
            </a:pPr>
            <a:r>
              <a:rPr sz="1450">
                <a:latin typeface="Times New Roman"/>
              </a:rPr>
              <a:t>Task Verification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1AD30853-1464-71B0-2269-FDB476AA2F4A}"/>
              </a:ext>
            </a:extLst>
          </p:cNvPr>
          <p:cNvSpPr txBox="1"/>
          <p:nvPr/>
        </p:nvSpPr>
        <p:spPr>
          <a:xfrm>
            <a:off x="6922010" y="3957903"/>
            <a:ext cx="1837943" cy="4124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220">
                <a:latin typeface="Times New Roman"/>
              </a:rPr>
              <a:t>Outputs and claims are not properly checked.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74CC820-3465-EC95-5AE9-C0719D79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77" y="1192899"/>
            <a:ext cx="6107959" cy="32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5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AA35-BA38-4118-DC3E-4E2B299D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5EF7E-A773-1912-1806-0CC33637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29301" y="4773242"/>
            <a:ext cx="2133600" cy="273844"/>
          </a:xfrm>
        </p:spPr>
        <p:txBody>
          <a:bodyPr/>
          <a:lstStyle/>
          <a:p>
            <a:fld id="{106E12CD-FCB1-464E-A775-0B83FDDACE0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00FAF444-F826-596B-B959-193A6DF92E59}"/>
              </a:ext>
            </a:extLst>
          </p:cNvPr>
          <p:cNvSpPr txBox="1"/>
          <p:nvPr/>
        </p:nvSpPr>
        <p:spPr>
          <a:xfrm>
            <a:off x="626137" y="233336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>
                <a:latin typeface="Times New Roman"/>
              </a:rPr>
              <a:t>MAST</a:t>
            </a: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45D4B111-6CD4-375A-9592-459809CA1CAE}"/>
              </a:ext>
            </a:extLst>
          </p:cNvPr>
          <p:cNvSpPr txBox="1"/>
          <p:nvPr/>
        </p:nvSpPr>
        <p:spPr>
          <a:xfrm>
            <a:off x="626137" y="397928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 dirty="0">
                <a:latin typeface="Times New Roman"/>
              </a:rPr>
              <a:t>Communication-related failure modes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7CDADF0-157B-4D29-5826-0D2C2247D4A3}"/>
              </a:ext>
            </a:extLst>
          </p:cNvPr>
          <p:cNvSpPr/>
          <p:nvPr/>
        </p:nvSpPr>
        <p:spPr>
          <a:xfrm>
            <a:off x="626137" y="946566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DE6C4994-5E2F-B59A-0C38-BE908ABEA203}"/>
              </a:ext>
            </a:extLst>
          </p:cNvPr>
          <p:cNvSpPr/>
          <p:nvPr/>
        </p:nvSpPr>
        <p:spPr>
          <a:xfrm>
            <a:off x="626137" y="1151088"/>
            <a:ext cx="2478932" cy="686020"/>
          </a:xfrm>
          <a:prstGeom prst="roundRect">
            <a:avLst/>
          </a:prstGeom>
          <a:solidFill>
            <a:srgbClr val="FDF6F8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37DE3132-7579-9600-A82A-C2AAF32B9A92}"/>
              </a:ext>
            </a:extLst>
          </p:cNvPr>
          <p:cNvSpPr txBox="1"/>
          <p:nvPr/>
        </p:nvSpPr>
        <p:spPr>
          <a:xfrm>
            <a:off x="735865" y="1233384"/>
            <a:ext cx="3118104" cy="2400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20" b="1">
                <a:solidFill>
                  <a:srgbClr val="CF4F61"/>
                </a:solidFill>
                <a:latin typeface="Times New Roman"/>
              </a:defRPr>
            </a:pPr>
            <a:r>
              <a:rPr sz="1320" dirty="0">
                <a:latin typeface="Times New Roman"/>
              </a:rPr>
              <a:t>Fail to ask for clarification</a:t>
            </a: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55839CAA-CBBE-BA3C-A952-AAAB1A3B86E6}"/>
              </a:ext>
            </a:extLst>
          </p:cNvPr>
          <p:cNvSpPr txBox="1"/>
          <p:nvPr/>
        </p:nvSpPr>
        <p:spPr>
          <a:xfrm>
            <a:off x="735865" y="1542555"/>
            <a:ext cx="3118104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20" b="0">
                <a:solidFill>
                  <a:srgbClr val="262626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Unclear evidence is not resolved</a:t>
            </a:r>
          </a:p>
        </p:txBody>
      </p:sp>
      <p:sp>
        <p:nvSpPr>
          <p:cNvPr id="33" name="Rounded Rectangle 10">
            <a:extLst>
              <a:ext uri="{FF2B5EF4-FFF2-40B4-BE49-F238E27FC236}">
                <a16:creationId xmlns:a16="http://schemas.microsoft.com/office/drawing/2014/main" id="{A6E5DF81-8250-2091-DF4C-35BEF957B5C5}"/>
              </a:ext>
            </a:extLst>
          </p:cNvPr>
          <p:cNvSpPr/>
          <p:nvPr/>
        </p:nvSpPr>
        <p:spPr>
          <a:xfrm>
            <a:off x="3335290" y="1151088"/>
            <a:ext cx="2785353" cy="686020"/>
          </a:xfrm>
          <a:prstGeom prst="roundRect">
            <a:avLst/>
          </a:prstGeom>
          <a:solidFill>
            <a:srgbClr val="FDF6F8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B7FE5934-2853-D0D4-7C2E-822E5EE62A0B}"/>
              </a:ext>
            </a:extLst>
          </p:cNvPr>
          <p:cNvSpPr txBox="1"/>
          <p:nvPr/>
        </p:nvSpPr>
        <p:spPr>
          <a:xfrm>
            <a:off x="3445018" y="1233384"/>
            <a:ext cx="3118104" cy="2400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20" b="1">
                <a:solidFill>
                  <a:srgbClr val="CF4F61"/>
                </a:solidFill>
                <a:latin typeface="Times New Roman"/>
              </a:defRPr>
            </a:pPr>
            <a:r>
              <a:rPr sz="1320">
                <a:latin typeface="Times New Roman"/>
              </a:rPr>
              <a:t>Information withholding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352E1671-A827-42EF-2713-8A9E090E5D80}"/>
              </a:ext>
            </a:extLst>
          </p:cNvPr>
          <p:cNvSpPr txBox="1"/>
          <p:nvPr/>
        </p:nvSpPr>
        <p:spPr>
          <a:xfrm>
            <a:off x="3445018" y="1542555"/>
            <a:ext cx="3118104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20" b="0">
                <a:solidFill>
                  <a:srgbClr val="262626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Useful private information is not shared</a:t>
            </a:r>
          </a:p>
        </p:txBody>
      </p:sp>
      <p:sp>
        <p:nvSpPr>
          <p:cNvPr id="36" name="Rounded Rectangle 13">
            <a:extLst>
              <a:ext uri="{FF2B5EF4-FFF2-40B4-BE49-F238E27FC236}">
                <a16:creationId xmlns:a16="http://schemas.microsoft.com/office/drawing/2014/main" id="{7292C32E-B715-49EF-CAA2-AD1E6EEA8D2A}"/>
              </a:ext>
            </a:extLst>
          </p:cNvPr>
          <p:cNvSpPr/>
          <p:nvPr/>
        </p:nvSpPr>
        <p:spPr>
          <a:xfrm>
            <a:off x="6365456" y="1149699"/>
            <a:ext cx="2478932" cy="686020"/>
          </a:xfrm>
          <a:prstGeom prst="roundRect">
            <a:avLst/>
          </a:prstGeom>
          <a:solidFill>
            <a:srgbClr val="FDF6F8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796B81DD-B90F-87D0-F7C4-7D66EAFC934B}"/>
              </a:ext>
            </a:extLst>
          </p:cNvPr>
          <p:cNvSpPr txBox="1"/>
          <p:nvPr/>
        </p:nvSpPr>
        <p:spPr>
          <a:xfrm>
            <a:off x="6483323" y="1243569"/>
            <a:ext cx="3118104" cy="2400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20" b="1">
                <a:solidFill>
                  <a:srgbClr val="CF4F61"/>
                </a:solidFill>
                <a:latin typeface="Times New Roman"/>
              </a:defRPr>
            </a:pPr>
            <a:r>
              <a:rPr sz="1320" dirty="0">
                <a:latin typeface="Times New Roman"/>
              </a:rPr>
              <a:t>Ignored other agent's input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2FE610CB-6454-F755-36E8-0B1DEF7FCF86}"/>
              </a:ext>
            </a:extLst>
          </p:cNvPr>
          <p:cNvSpPr txBox="1"/>
          <p:nvPr/>
        </p:nvSpPr>
        <p:spPr>
          <a:xfrm>
            <a:off x="6483323" y="1532370"/>
            <a:ext cx="3118104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20" b="0">
                <a:solidFill>
                  <a:srgbClr val="262626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Shared evidence is not incorporated</a:t>
            </a:r>
          </a:p>
        </p:txBody>
      </p:sp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EA92C1DB-D48D-A72A-87E3-E3163E618E85}"/>
              </a:ext>
            </a:extLst>
          </p:cNvPr>
          <p:cNvSpPr/>
          <p:nvPr/>
        </p:nvSpPr>
        <p:spPr>
          <a:xfrm>
            <a:off x="626137" y="2004903"/>
            <a:ext cx="2863174" cy="686020"/>
          </a:xfrm>
          <a:prstGeom prst="roundRect">
            <a:avLst/>
          </a:prstGeom>
          <a:solidFill>
            <a:srgbClr val="FDF6F8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9AE048EB-16D6-8D3A-338F-0A77CD116FEA}"/>
              </a:ext>
            </a:extLst>
          </p:cNvPr>
          <p:cNvSpPr txBox="1"/>
          <p:nvPr/>
        </p:nvSpPr>
        <p:spPr>
          <a:xfrm>
            <a:off x="735865" y="2087199"/>
            <a:ext cx="3118104" cy="2400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20" b="1">
                <a:solidFill>
                  <a:srgbClr val="CF4F61"/>
                </a:solidFill>
                <a:latin typeface="Times New Roman"/>
              </a:defRPr>
            </a:pPr>
            <a:r>
              <a:rPr sz="1320">
                <a:latin typeface="Times New Roman"/>
              </a:rPr>
              <a:t>Task derailment</a:t>
            </a: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E372B8C9-38BC-BC32-3908-9FDE8AE0529D}"/>
              </a:ext>
            </a:extLst>
          </p:cNvPr>
          <p:cNvSpPr txBox="1"/>
          <p:nvPr/>
        </p:nvSpPr>
        <p:spPr>
          <a:xfrm>
            <a:off x="735865" y="2397174"/>
            <a:ext cx="3118104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20" b="0">
                <a:solidFill>
                  <a:srgbClr val="262626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Discussion drifts away from the objective</a:t>
            </a:r>
          </a:p>
        </p:txBody>
      </p:sp>
      <p:sp>
        <p:nvSpPr>
          <p:cNvPr id="42" name="Rounded Rectangle 19">
            <a:extLst>
              <a:ext uri="{FF2B5EF4-FFF2-40B4-BE49-F238E27FC236}">
                <a16:creationId xmlns:a16="http://schemas.microsoft.com/office/drawing/2014/main" id="{05B5AE09-02DD-BDEC-E65F-DDFF27883C3E}"/>
              </a:ext>
            </a:extLst>
          </p:cNvPr>
          <p:cNvSpPr/>
          <p:nvPr/>
        </p:nvSpPr>
        <p:spPr>
          <a:xfrm>
            <a:off x="3659351" y="1999666"/>
            <a:ext cx="2410838" cy="686020"/>
          </a:xfrm>
          <a:prstGeom prst="roundRect">
            <a:avLst/>
          </a:prstGeom>
          <a:solidFill>
            <a:srgbClr val="FDF6F8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CC9F8024-7FE5-3573-06C7-8D7A4AF47FCF}"/>
              </a:ext>
            </a:extLst>
          </p:cNvPr>
          <p:cNvSpPr txBox="1"/>
          <p:nvPr/>
        </p:nvSpPr>
        <p:spPr>
          <a:xfrm>
            <a:off x="3769079" y="2081962"/>
            <a:ext cx="3118104" cy="2400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20" b="1">
                <a:solidFill>
                  <a:srgbClr val="CF4F61"/>
                </a:solidFill>
                <a:latin typeface="Times New Roman"/>
              </a:defRPr>
            </a:pPr>
            <a:r>
              <a:rPr sz="1320">
                <a:latin typeface="Times New Roman"/>
              </a:rPr>
              <a:t>Reasoning-action mismatch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2019FCF4-A43B-1CB8-CFA5-DF99BA92C8B6}"/>
              </a:ext>
            </a:extLst>
          </p:cNvPr>
          <p:cNvSpPr txBox="1"/>
          <p:nvPr/>
        </p:nvSpPr>
        <p:spPr>
          <a:xfrm>
            <a:off x="3769079" y="2387303"/>
            <a:ext cx="3118104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20" b="0">
                <a:solidFill>
                  <a:srgbClr val="262626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Action contradicts stated reasoning</a:t>
            </a:r>
          </a:p>
        </p:txBody>
      </p:sp>
      <p:sp>
        <p:nvSpPr>
          <p:cNvPr id="45" name="Rounded Rectangle 22">
            <a:extLst>
              <a:ext uri="{FF2B5EF4-FFF2-40B4-BE49-F238E27FC236}">
                <a16:creationId xmlns:a16="http://schemas.microsoft.com/office/drawing/2014/main" id="{772D34AA-3560-AC5A-8965-7259284DDFED}"/>
              </a:ext>
            </a:extLst>
          </p:cNvPr>
          <p:cNvSpPr/>
          <p:nvPr/>
        </p:nvSpPr>
        <p:spPr>
          <a:xfrm>
            <a:off x="6240229" y="1999666"/>
            <a:ext cx="2318426" cy="686020"/>
          </a:xfrm>
          <a:prstGeom prst="roundRect">
            <a:avLst/>
          </a:prstGeom>
          <a:solidFill>
            <a:srgbClr val="F0F9F5"/>
          </a:solidFill>
          <a:ln w="13970">
            <a:solidFill>
              <a:srgbClr val="3D9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F8F152EF-B863-48A2-A156-8BD2BF0712F8}"/>
              </a:ext>
            </a:extLst>
          </p:cNvPr>
          <p:cNvSpPr txBox="1"/>
          <p:nvPr/>
        </p:nvSpPr>
        <p:spPr>
          <a:xfrm>
            <a:off x="6349957" y="2081962"/>
            <a:ext cx="3118104" cy="2400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20" b="1">
                <a:solidFill>
                  <a:srgbClr val="3D916F"/>
                </a:solidFill>
                <a:latin typeface="Times New Roman"/>
              </a:defRPr>
            </a:pPr>
            <a:r>
              <a:rPr sz="1320">
                <a:latin typeface="Times New Roman"/>
              </a:rPr>
              <a:t>No / incomplete verification</a:t>
            </a: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E5FD962C-BC75-8279-5C58-00D61D87CC01}"/>
              </a:ext>
            </a:extLst>
          </p:cNvPr>
          <p:cNvSpPr txBox="1"/>
          <p:nvPr/>
        </p:nvSpPr>
        <p:spPr>
          <a:xfrm>
            <a:off x="6349957" y="2387303"/>
            <a:ext cx="3118104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20" b="0">
                <a:solidFill>
                  <a:srgbClr val="262626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Claims or outputs are not checked</a:t>
            </a:r>
          </a:p>
        </p:txBody>
      </p:sp>
      <p:sp>
        <p:nvSpPr>
          <p:cNvPr id="49" name="TextBox 27">
            <a:extLst>
              <a:ext uri="{FF2B5EF4-FFF2-40B4-BE49-F238E27FC236}">
                <a16:creationId xmlns:a16="http://schemas.microsoft.com/office/drawing/2014/main" id="{9B39BAE7-352B-90DF-A276-62527A76F2F3}"/>
              </a:ext>
            </a:extLst>
          </p:cNvPr>
          <p:cNvSpPr txBox="1"/>
          <p:nvPr/>
        </p:nvSpPr>
        <p:spPr>
          <a:xfrm>
            <a:off x="1325880" y="4362872"/>
            <a:ext cx="6492240" cy="22929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50" b="0">
                <a:solidFill>
                  <a:srgbClr val="64606E"/>
                </a:solidFill>
                <a:latin typeface="Times New Roman"/>
              </a:defRPr>
            </a:pPr>
            <a:r>
              <a:rPr sz="1250" dirty="0">
                <a:latin typeface="Times New Roman"/>
              </a:rPr>
              <a:t>Paper example: a failure is diagnosed from the trace, not from the final answer alone.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2F588624-4375-6064-E5CF-40FD69FAF2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5" t="4726" r="3312"/>
          <a:stretch>
            <a:fillRect/>
          </a:stretch>
        </p:blipFill>
        <p:spPr>
          <a:xfrm>
            <a:off x="905320" y="2787617"/>
            <a:ext cx="7305473" cy="154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2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AE58A-C10F-E488-ABF0-8BF177C3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F259E-F995-EF5A-7774-4E7435D8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26DCDE63-D627-96B4-0C7F-719B78F75307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WEREWOLF 3/3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0CD10B04-3CC9-7081-DE98-5E40C99AB218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 dirty="0">
                <a:latin typeface="Times New Roman"/>
              </a:rPr>
              <a:t>Applying MAST to the Werewolf trace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7EBB1E8-BE63-DA58-88D1-9D23D3817C55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FF88CD0F-4DA6-B981-E60F-9B9F3C254637}"/>
              </a:ext>
            </a:extLst>
          </p:cNvPr>
          <p:cNvSpPr/>
          <p:nvPr/>
        </p:nvSpPr>
        <p:spPr>
          <a:xfrm>
            <a:off x="850587" y="1139611"/>
            <a:ext cx="3246119" cy="120700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E8721A7-FA2A-C2E5-F6BE-A8AB66F66C8C}"/>
              </a:ext>
            </a:extLst>
          </p:cNvPr>
          <p:cNvSpPr txBox="1"/>
          <p:nvPr/>
        </p:nvSpPr>
        <p:spPr>
          <a:xfrm>
            <a:off x="960314" y="1221907"/>
            <a:ext cx="2523744" cy="264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80" b="1">
                <a:solidFill>
                  <a:srgbClr val="542A84"/>
                </a:solidFill>
                <a:latin typeface="Times New Roman"/>
              </a:defRPr>
            </a:pPr>
            <a:r>
              <a:rPr sz="1480">
                <a:latin typeface="Times New Roman"/>
              </a:rPr>
              <a:t>Mini trace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CF088165-44FD-A39D-1B15-1C58CD6D4D80}"/>
              </a:ext>
            </a:extLst>
          </p:cNvPr>
          <p:cNvSpPr txBox="1"/>
          <p:nvPr/>
        </p:nvSpPr>
        <p:spPr>
          <a:xfrm>
            <a:off x="969461" y="1526999"/>
            <a:ext cx="3017519" cy="6832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Seer: Player 3 is suspicious.</a:t>
            </a:r>
            <a:br>
              <a:rPr lang="zh-CN" altLang="en-US" sz="1400" dirty="0"/>
            </a:br>
            <a:r>
              <a:rPr sz="1400" dirty="0">
                <a:latin typeface="Times New Roman"/>
              </a:rPr>
              <a:t>Villagers do not discuss it.</a:t>
            </a:r>
            <a:br>
              <a:rPr lang="zh-CN" altLang="en-US" sz="1400" dirty="0"/>
            </a:br>
            <a:r>
              <a:rPr sz="1400" dirty="0">
                <a:latin typeface="Times New Roman"/>
              </a:rPr>
              <a:t>Group votes Player 5 on vague suspicion.</a:t>
            </a: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56F63EF5-627C-185B-DA2D-481A354FC9E4}"/>
              </a:ext>
            </a:extLst>
          </p:cNvPr>
          <p:cNvCxnSpPr/>
          <p:nvPr/>
        </p:nvCxnSpPr>
        <p:spPr>
          <a:xfrm>
            <a:off x="4215578" y="1697395"/>
            <a:ext cx="731520" cy="0"/>
          </a:xfrm>
          <a:prstGeom prst="line">
            <a:avLst/>
          </a:prstGeom>
          <a:ln w="25400">
            <a:solidFill>
              <a:srgbClr val="CF4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F519419C-D2FE-31F3-A533-214169A261C8}"/>
              </a:ext>
            </a:extLst>
          </p:cNvPr>
          <p:cNvSpPr/>
          <p:nvPr/>
        </p:nvSpPr>
        <p:spPr>
          <a:xfrm>
            <a:off x="5175698" y="1148755"/>
            <a:ext cx="3246120" cy="1207008"/>
          </a:xfrm>
          <a:prstGeom prst="roundRect">
            <a:avLst/>
          </a:prstGeom>
          <a:solidFill>
            <a:srgbClr val="FDF0F3"/>
          </a:solidFill>
          <a:ln w="13970">
            <a:solidFill>
              <a:srgbClr val="CF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393470C7-1367-DC1F-6F57-73E7D68AC78C}"/>
              </a:ext>
            </a:extLst>
          </p:cNvPr>
          <p:cNvSpPr txBox="1"/>
          <p:nvPr/>
        </p:nvSpPr>
        <p:spPr>
          <a:xfrm>
            <a:off x="5285428" y="1231051"/>
            <a:ext cx="3026663" cy="264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80" b="1">
                <a:solidFill>
                  <a:srgbClr val="CF4F61"/>
                </a:solidFill>
                <a:latin typeface="Times New Roman"/>
              </a:defRPr>
            </a:pPr>
            <a:r>
              <a:rPr sz="1480">
                <a:latin typeface="Times New Roman"/>
              </a:rPr>
              <a:t>Outcome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2EDB9B5D-2E8A-C857-F338-B0D4D2985FC6}"/>
              </a:ext>
            </a:extLst>
          </p:cNvPr>
          <p:cNvSpPr txBox="1"/>
          <p:nvPr/>
        </p:nvSpPr>
        <p:spPr>
          <a:xfrm>
            <a:off x="5285428" y="1587667"/>
            <a:ext cx="3026663" cy="6832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20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latin typeface="Times New Roman"/>
              </a:rPr>
              <a:t>Player 5 is a villager.</a:t>
            </a:r>
            <a:br>
              <a:rPr sz="1400" dirty="0"/>
            </a:br>
            <a:r>
              <a:rPr sz="1400" dirty="0">
                <a:latin typeface="Times New Roman"/>
              </a:rPr>
              <a:t>Werewolves gain advantage.</a:t>
            </a:r>
            <a:br>
              <a:rPr sz="1400" dirty="0"/>
            </a:br>
            <a:r>
              <a:rPr sz="1400" dirty="0">
                <a:latin typeface="Times New Roman"/>
              </a:rPr>
              <a:t>Communication score is low.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D7CC546F-54E7-86E7-DF95-0C3FB696C484}"/>
              </a:ext>
            </a:extLst>
          </p:cNvPr>
          <p:cNvSpPr/>
          <p:nvPr/>
        </p:nvSpPr>
        <p:spPr>
          <a:xfrm>
            <a:off x="850587" y="2630329"/>
            <a:ext cx="3657600" cy="384048"/>
          </a:xfrm>
          <a:prstGeom prst="roundRect">
            <a:avLst/>
          </a:prstGeom>
          <a:solidFill>
            <a:srgbClr val="EBE4F7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BCDE0CA-5FEC-8D22-E9CF-36A1C4112564}"/>
              </a:ext>
            </a:extLst>
          </p:cNvPr>
          <p:cNvSpPr txBox="1"/>
          <p:nvPr/>
        </p:nvSpPr>
        <p:spPr>
          <a:xfrm>
            <a:off x="960315" y="2712625"/>
            <a:ext cx="3438144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1">
                <a:solidFill>
                  <a:srgbClr val="542A84"/>
                </a:solidFill>
                <a:latin typeface="Times New Roman"/>
              </a:defRPr>
            </a:pPr>
            <a:endParaRPr sz="100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F638B8CD-015A-A5D7-1600-4AE20257792E}"/>
              </a:ext>
            </a:extLst>
          </p:cNvPr>
          <p:cNvSpPr txBox="1"/>
          <p:nvPr/>
        </p:nvSpPr>
        <p:spPr>
          <a:xfrm>
            <a:off x="960315" y="3069241"/>
            <a:ext cx="3438144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0">
                <a:solidFill>
                  <a:srgbClr val="262626"/>
                </a:solidFill>
                <a:latin typeface="Times New Roman"/>
              </a:defRPr>
            </a:pPr>
            <a:endParaRPr sz="100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143D621F-4D65-624E-D2F0-F545B85CA2AA}"/>
              </a:ext>
            </a:extLst>
          </p:cNvPr>
          <p:cNvSpPr txBox="1"/>
          <p:nvPr/>
        </p:nvSpPr>
        <p:spPr>
          <a:xfrm>
            <a:off x="905451" y="2698909"/>
            <a:ext cx="3547872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3A1C5C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Observed behavior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A00859B9-E57D-C455-3274-AEB65DCA3342}"/>
              </a:ext>
            </a:extLst>
          </p:cNvPr>
          <p:cNvSpPr/>
          <p:nvPr/>
        </p:nvSpPr>
        <p:spPr>
          <a:xfrm>
            <a:off x="4508189" y="2630329"/>
            <a:ext cx="3749039" cy="384048"/>
          </a:xfrm>
          <a:prstGeom prst="roundRect">
            <a:avLst/>
          </a:prstGeom>
          <a:solidFill>
            <a:srgbClr val="EBE4F7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9B626CF-2F6F-95DF-9539-4FB44BE72F04}"/>
              </a:ext>
            </a:extLst>
          </p:cNvPr>
          <p:cNvSpPr txBox="1"/>
          <p:nvPr/>
        </p:nvSpPr>
        <p:spPr>
          <a:xfrm>
            <a:off x="4617917" y="2712625"/>
            <a:ext cx="3529583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1">
                <a:solidFill>
                  <a:srgbClr val="542A84"/>
                </a:solidFill>
                <a:latin typeface="Times New Roman"/>
              </a:defRPr>
            </a:pPr>
            <a:endParaRPr sz="1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1C6F8B8-9CEC-07DB-FA82-BE47B2ADA4B2}"/>
              </a:ext>
            </a:extLst>
          </p:cNvPr>
          <p:cNvSpPr txBox="1"/>
          <p:nvPr/>
        </p:nvSpPr>
        <p:spPr>
          <a:xfrm>
            <a:off x="4617917" y="3069241"/>
            <a:ext cx="3529583" cy="523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" b="0">
                <a:solidFill>
                  <a:srgbClr val="262626"/>
                </a:solidFill>
                <a:latin typeface="Times New Roman"/>
              </a:defRPr>
            </a:pPr>
            <a:endParaRPr sz="100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6563D2E-6183-1414-8D08-E1BC2B26D7C6}"/>
              </a:ext>
            </a:extLst>
          </p:cNvPr>
          <p:cNvSpPr txBox="1"/>
          <p:nvPr/>
        </p:nvSpPr>
        <p:spPr>
          <a:xfrm>
            <a:off x="4563052" y="2698909"/>
            <a:ext cx="3639311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3A1C5C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MAST attribution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AEFF4FDF-7423-3C3B-0517-1FAC24DCF5AF}"/>
              </a:ext>
            </a:extLst>
          </p:cNvPr>
          <p:cNvSpPr/>
          <p:nvPr/>
        </p:nvSpPr>
        <p:spPr>
          <a:xfrm>
            <a:off x="850587" y="3014377"/>
            <a:ext cx="3657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61E7B5D-F423-2E50-73D7-FDA3C2039DA6}"/>
              </a:ext>
            </a:extLst>
          </p:cNvPr>
          <p:cNvSpPr txBox="1"/>
          <p:nvPr/>
        </p:nvSpPr>
        <p:spPr>
          <a:xfrm>
            <a:off x="905451" y="3082959"/>
            <a:ext cx="354787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Seer's claim not discussed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F9934369-11BE-05E3-06C9-6EC67F114C96}"/>
              </a:ext>
            </a:extLst>
          </p:cNvPr>
          <p:cNvSpPr/>
          <p:nvPr/>
        </p:nvSpPr>
        <p:spPr>
          <a:xfrm>
            <a:off x="4508189" y="3014377"/>
            <a:ext cx="3749039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7F6F8CB-CDD4-B832-FCA8-9E99E6987E05}"/>
              </a:ext>
            </a:extLst>
          </p:cNvPr>
          <p:cNvSpPr txBox="1"/>
          <p:nvPr/>
        </p:nvSpPr>
        <p:spPr>
          <a:xfrm>
            <a:off x="4563052" y="3082959"/>
            <a:ext cx="363931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Ignored other agent's input</a:t>
            </a: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24D83F11-2450-84ED-78E1-A5C8EC3F1C53}"/>
              </a:ext>
            </a:extLst>
          </p:cNvPr>
          <p:cNvSpPr/>
          <p:nvPr/>
        </p:nvSpPr>
        <p:spPr>
          <a:xfrm>
            <a:off x="850587" y="3398425"/>
            <a:ext cx="3657600" cy="384048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CCF4DE6-5A97-147C-0EC1-C4999E107C5F}"/>
              </a:ext>
            </a:extLst>
          </p:cNvPr>
          <p:cNvSpPr txBox="1"/>
          <p:nvPr/>
        </p:nvSpPr>
        <p:spPr>
          <a:xfrm>
            <a:off x="905451" y="3467006"/>
            <a:ext cx="354787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No one asks for evidence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8658C279-671D-9206-2CC3-0A346824B401}"/>
              </a:ext>
            </a:extLst>
          </p:cNvPr>
          <p:cNvSpPr/>
          <p:nvPr/>
        </p:nvSpPr>
        <p:spPr>
          <a:xfrm>
            <a:off x="4508189" y="3398425"/>
            <a:ext cx="3749039" cy="384048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211F3B1-A0C7-8DA5-54EF-EFC9267B84AD}"/>
              </a:ext>
            </a:extLst>
          </p:cNvPr>
          <p:cNvSpPr txBox="1"/>
          <p:nvPr/>
        </p:nvSpPr>
        <p:spPr>
          <a:xfrm>
            <a:off x="4563052" y="3467006"/>
            <a:ext cx="363931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Fail to ask for clarification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D6E880DD-88C9-4BCF-C10A-2B465B52E0A0}"/>
              </a:ext>
            </a:extLst>
          </p:cNvPr>
          <p:cNvSpPr/>
          <p:nvPr/>
        </p:nvSpPr>
        <p:spPr>
          <a:xfrm>
            <a:off x="850587" y="3782473"/>
            <a:ext cx="3657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4F15590-71B1-2071-3F68-F79352943394}"/>
              </a:ext>
            </a:extLst>
          </p:cNvPr>
          <p:cNvSpPr txBox="1"/>
          <p:nvPr/>
        </p:nvSpPr>
        <p:spPr>
          <a:xfrm>
            <a:off x="905451" y="3851055"/>
            <a:ext cx="354787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Vote without cross-checking</a:t>
            </a:r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8C7C5A6A-F652-F7D0-1479-93EC623F8229}"/>
              </a:ext>
            </a:extLst>
          </p:cNvPr>
          <p:cNvSpPr/>
          <p:nvPr/>
        </p:nvSpPr>
        <p:spPr>
          <a:xfrm>
            <a:off x="4508189" y="3782473"/>
            <a:ext cx="3749039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60B1E2F-029F-D75F-BFFB-B4CA2ECDD0F6}"/>
              </a:ext>
            </a:extLst>
          </p:cNvPr>
          <p:cNvSpPr txBox="1"/>
          <p:nvPr/>
        </p:nvSpPr>
        <p:spPr>
          <a:xfrm>
            <a:off x="4563052" y="3851055"/>
            <a:ext cx="363931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No / incomplete verification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3D85B934-B05B-43A3-96C7-39070D0E1A87}"/>
              </a:ext>
            </a:extLst>
          </p:cNvPr>
          <p:cNvSpPr/>
          <p:nvPr/>
        </p:nvSpPr>
        <p:spPr>
          <a:xfrm>
            <a:off x="850587" y="4166521"/>
            <a:ext cx="3657600" cy="384048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7C3EE7E-B43B-9552-0625-CDD8B92D45AB}"/>
              </a:ext>
            </a:extLst>
          </p:cNvPr>
          <p:cNvSpPr txBox="1"/>
          <p:nvPr/>
        </p:nvSpPr>
        <p:spPr>
          <a:xfrm>
            <a:off x="905451" y="4235103"/>
            <a:ext cx="3547872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sz="1400" dirty="0">
                <a:solidFill>
                  <a:srgbClr val="262626"/>
                </a:solidFill>
                <a:latin typeface="Times New Roman"/>
              </a:rPr>
              <a:t>Group </a:t>
            </a:r>
            <a:r>
              <a:rPr lang="en-US" sz="1400" dirty="0">
                <a:solidFill>
                  <a:srgbClr val="262626"/>
                </a:solidFill>
                <a:latin typeface="Times New Roman"/>
              </a:rPr>
              <a:t>says 6 is more suspicious, but votes 5</a:t>
            </a:r>
            <a:endParaRPr sz="140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746F2BA6-9E33-2932-16DA-516E157D0F53}"/>
              </a:ext>
            </a:extLst>
          </p:cNvPr>
          <p:cNvSpPr/>
          <p:nvPr/>
        </p:nvSpPr>
        <p:spPr>
          <a:xfrm>
            <a:off x="4508189" y="4166521"/>
            <a:ext cx="3749039" cy="384048"/>
          </a:xfrm>
          <a:prstGeom prst="rect">
            <a:avLst/>
          </a:prstGeom>
          <a:solidFill>
            <a:srgbClr val="F6F2FA"/>
          </a:solidFill>
          <a:ln>
            <a:solidFill>
              <a:srgbClr val="E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FB06337-45C7-F41B-685F-166793310BC8}"/>
              </a:ext>
            </a:extLst>
          </p:cNvPr>
          <p:cNvSpPr txBox="1"/>
          <p:nvPr/>
        </p:nvSpPr>
        <p:spPr>
          <a:xfrm>
            <a:off x="4563052" y="4235103"/>
            <a:ext cx="3639311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19" b="0">
                <a:solidFill>
                  <a:srgbClr val="262626"/>
                </a:solidFill>
                <a:latin typeface="Times New Roman"/>
              </a:defRPr>
            </a:pPr>
            <a:r>
              <a:rPr lang="en-US" altLang="zh-CN" sz="1400" dirty="0">
                <a:latin typeface="Times New Roman"/>
              </a:rPr>
              <a:t>Reasoning-action mismatch</a:t>
            </a:r>
            <a:endParaRPr sz="1400" dirty="0">
              <a:latin typeface="Times New Roman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E150D7F6-59D4-6E67-DF16-587B1EF98CEA}"/>
              </a:ext>
            </a:extLst>
          </p:cNvPr>
          <p:cNvSpPr txBox="1"/>
          <p:nvPr/>
        </p:nvSpPr>
        <p:spPr>
          <a:xfrm>
            <a:off x="594360" y="256033"/>
            <a:ext cx="8275321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50" b="0">
                <a:solidFill>
                  <a:srgbClr val="64606E"/>
                </a:solidFill>
                <a:latin typeface="Times New Roman"/>
              </a:defRPr>
            </a:pPr>
            <a:r>
              <a:rPr lang="en-US" altLang="zh-CN" sz="1000" dirty="0">
                <a:latin typeface="Times New Roman"/>
              </a:rPr>
              <a:t>Note</a:t>
            </a:r>
            <a:r>
              <a:rPr sz="1000" dirty="0">
                <a:latin typeface="Times New Roman"/>
              </a:rPr>
              <a:t>: this applies MAST's taxonomy to a Werewolf-style trace; it is not claiming MAST itself benchmarked Werewolf.</a:t>
            </a:r>
          </a:p>
        </p:txBody>
      </p:sp>
    </p:spTree>
    <p:extLst>
      <p:ext uri="{BB962C8B-B14F-4D97-AF65-F5344CB8AC3E}">
        <p14:creationId xmlns:p14="http://schemas.microsoft.com/office/powerpoint/2010/main" val="403583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B617D-3FDF-41E7-7E25-EE30D93AD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C4B66-F475-BE3C-75C9-51A52E1A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9031607-855B-7386-3054-C62C70A324B0}"/>
              </a:ext>
            </a:extLst>
          </p:cNvPr>
          <p:cNvSpPr txBox="1"/>
          <p:nvPr/>
        </p:nvSpPr>
        <p:spPr>
          <a:xfrm>
            <a:off x="502920" y="256034"/>
            <a:ext cx="786384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542A84"/>
                </a:solidFill>
                <a:latin typeface="Times New Roman"/>
              </a:defRPr>
            </a:pPr>
            <a:r>
              <a:rPr lang="en-US" altLang="zh-CN" sz="1000" dirty="0">
                <a:latin typeface="Times New Roman"/>
              </a:rPr>
              <a:t>THE WHOLE PICTURE</a:t>
            </a:r>
            <a:endParaRPr sz="1000" dirty="0">
              <a:latin typeface="Times New Roman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4B9BD78-5817-6C01-F367-632C909C309B}"/>
              </a:ext>
            </a:extLst>
          </p:cNvPr>
          <p:cNvSpPr txBox="1"/>
          <p:nvPr/>
        </p:nvSpPr>
        <p:spPr>
          <a:xfrm>
            <a:off x="502920" y="420626"/>
            <a:ext cx="804672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sz="2900" dirty="0">
                <a:latin typeface="Times New Roman"/>
              </a:rPr>
              <a:t>Final synthesis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AFA843-9CFB-3B53-3BA5-BD941ADA879A}"/>
              </a:ext>
            </a:extLst>
          </p:cNvPr>
          <p:cNvSpPr/>
          <p:nvPr/>
        </p:nvSpPr>
        <p:spPr>
          <a:xfrm>
            <a:off x="502920" y="969264"/>
            <a:ext cx="1051560" cy="32004"/>
          </a:xfrm>
          <a:prstGeom prst="rect">
            <a:avLst/>
          </a:prstGeom>
          <a:solidFill>
            <a:srgbClr val="54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C4324396-BE59-3BA8-55AF-2C7110FE6285}"/>
              </a:ext>
            </a:extLst>
          </p:cNvPr>
          <p:cNvSpPr/>
          <p:nvPr/>
        </p:nvSpPr>
        <p:spPr>
          <a:xfrm>
            <a:off x="2095367" y="1309576"/>
            <a:ext cx="1709530" cy="667732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lang="en-US" sz="1600" dirty="0">
                <a:latin typeface="Times New Roman"/>
              </a:rPr>
              <a:t>Support Coordination</a:t>
            </a:r>
            <a:endParaRPr sz="1600" dirty="0">
              <a:latin typeface="Times New Roman"/>
            </a:endParaRPr>
          </a:p>
        </p:txBody>
      </p:sp>
      <p:cxnSp>
        <p:nvCxnSpPr>
          <p:cNvPr id="7" name="Connector 8">
            <a:extLst>
              <a:ext uri="{FF2B5EF4-FFF2-40B4-BE49-F238E27FC236}">
                <a16:creationId xmlns:a16="http://schemas.microsoft.com/office/drawing/2014/main" id="{1D9F0447-39B9-D242-0BC5-9670E21CB9A2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804897" y="2254568"/>
            <a:ext cx="622190" cy="563125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9F3BF47A-F15B-2819-416F-B34207B69B00}"/>
              </a:ext>
            </a:extLst>
          </p:cNvPr>
          <p:cNvSpPr/>
          <p:nvPr/>
        </p:nvSpPr>
        <p:spPr>
          <a:xfrm>
            <a:off x="2095367" y="2368834"/>
            <a:ext cx="1709530" cy="825399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lang="en-US" sz="1600" dirty="0">
                <a:latin typeface="Times New Roman"/>
              </a:rPr>
              <a:t>Become Strategic Under Competition </a:t>
            </a:r>
            <a:endParaRPr sz="1600" dirty="0">
              <a:latin typeface="Times New Roman"/>
            </a:endParaRP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81133A4A-F72F-181F-C94C-B0878D824E1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804897" y="1656804"/>
            <a:ext cx="622190" cy="597764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78EF3376-E1E8-BDF7-868E-6BC9CD3DBBCD}"/>
              </a:ext>
            </a:extLst>
          </p:cNvPr>
          <p:cNvSpPr/>
          <p:nvPr/>
        </p:nvSpPr>
        <p:spPr>
          <a:xfrm>
            <a:off x="4427087" y="1864238"/>
            <a:ext cx="1586484" cy="780659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lang="en-US" altLang="zh-CN" sz="1600" dirty="0">
                <a:latin typeface="Times New Roman"/>
              </a:rPr>
              <a:t>Emergence From Interactions</a:t>
            </a:r>
            <a:endParaRPr sz="1600" dirty="0">
              <a:latin typeface="Times New Roman"/>
            </a:endParaRPr>
          </a:p>
        </p:txBody>
      </p:sp>
      <p:cxnSp>
        <p:nvCxnSpPr>
          <p:cNvPr id="11" name="Connector 12">
            <a:extLst>
              <a:ext uri="{FF2B5EF4-FFF2-40B4-BE49-F238E27FC236}">
                <a16:creationId xmlns:a16="http://schemas.microsoft.com/office/drawing/2014/main" id="{B6811658-4FCF-8E20-CB52-816B6CB724E1}"/>
              </a:ext>
            </a:extLst>
          </p:cNvPr>
          <p:cNvCxnSpPr>
            <a:cxnSpLocks/>
          </p:cNvCxnSpPr>
          <p:nvPr/>
        </p:nvCxnSpPr>
        <p:spPr>
          <a:xfrm>
            <a:off x="6013571" y="2265452"/>
            <a:ext cx="529556" cy="0"/>
          </a:xfrm>
          <a:prstGeom prst="line">
            <a:avLst/>
          </a:prstGeom>
          <a:ln w="20320">
            <a:solidFill>
              <a:srgbClr val="542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AAB94A5F-5725-537E-A1CA-4BC86CC029CE}"/>
              </a:ext>
            </a:extLst>
          </p:cNvPr>
          <p:cNvSpPr/>
          <p:nvPr/>
        </p:nvSpPr>
        <p:spPr>
          <a:xfrm>
            <a:off x="6543127" y="1826300"/>
            <a:ext cx="1384521" cy="856533"/>
          </a:xfrm>
          <a:prstGeom prst="roundRect">
            <a:avLst/>
          </a:prstGeom>
          <a:solidFill>
            <a:srgbClr val="F6F2FA"/>
          </a:solidFill>
          <a:ln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542A84"/>
                </a:solidFill>
                <a:latin typeface="Times New Roman"/>
              </a:defRPr>
            </a:pPr>
            <a:r>
              <a:rPr lang="en-US" sz="1600" dirty="0">
                <a:latin typeface="Times New Roman"/>
              </a:rPr>
              <a:t>Evaluation &amp; Failure Attribution</a:t>
            </a:r>
            <a:endParaRPr sz="1600" dirty="0">
              <a:latin typeface="Times New Roman"/>
            </a:endParaRP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0CC9406F-C0AB-0CD0-94F4-34ED6FCC640E}"/>
              </a:ext>
            </a:extLst>
          </p:cNvPr>
          <p:cNvCxnSpPr>
            <a:cxnSpLocks/>
          </p:cNvCxnSpPr>
          <p:nvPr/>
        </p:nvCxnSpPr>
        <p:spPr>
          <a:xfrm>
            <a:off x="4158730" y="691764"/>
            <a:ext cx="0" cy="2973788"/>
          </a:xfrm>
          <a:prstGeom prst="line">
            <a:avLst/>
          </a:prstGeom>
          <a:ln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4AAE8BA0-DEAC-4DC4-A420-F4A941CEAEC8}"/>
              </a:ext>
            </a:extLst>
          </p:cNvPr>
          <p:cNvSpPr txBox="1"/>
          <p:nvPr/>
        </p:nvSpPr>
        <p:spPr>
          <a:xfrm>
            <a:off x="2478423" y="3522383"/>
            <a:ext cx="1883663" cy="283154"/>
          </a:xfrm>
          <a:prstGeom prst="rect">
            <a:avLst/>
          </a:prstGeom>
          <a:noFill/>
          <a:effectLst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lang="en-US" sz="1600" u="sng" dirty="0">
                <a:latin typeface="Times New Roman"/>
              </a:rPr>
              <a:t>Agent-level</a:t>
            </a:r>
            <a:endParaRPr sz="1600" u="sng" dirty="0">
              <a:latin typeface="Times New Roman"/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E9179FB1-F96E-76C4-9234-C79787AB7367}"/>
              </a:ext>
            </a:extLst>
          </p:cNvPr>
          <p:cNvSpPr txBox="1"/>
          <p:nvPr/>
        </p:nvSpPr>
        <p:spPr>
          <a:xfrm>
            <a:off x="5601295" y="3522383"/>
            <a:ext cx="1883663" cy="267766"/>
          </a:xfrm>
          <a:prstGeom prst="rect">
            <a:avLst/>
          </a:prstGeom>
          <a:noFill/>
          <a:effectLst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lang="en-US" sz="1500" u="sng" dirty="0">
                <a:latin typeface="Times New Roman"/>
              </a:rPr>
              <a:t>System-level</a:t>
            </a:r>
            <a:endParaRPr sz="1500" u="sng" dirty="0">
              <a:latin typeface="Times New Roman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1A12454E-E819-1649-9217-FB9793EFC25F}"/>
              </a:ext>
            </a:extLst>
          </p:cNvPr>
          <p:cNvSpPr txBox="1"/>
          <p:nvPr/>
        </p:nvSpPr>
        <p:spPr>
          <a:xfrm>
            <a:off x="1028700" y="1877653"/>
            <a:ext cx="798311" cy="7755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542A84"/>
                </a:solidFill>
                <a:latin typeface="Times New Roman"/>
              </a:defRPr>
            </a:pPr>
            <a:r>
              <a:rPr lang="en-US" sz="1600" dirty="0">
                <a:latin typeface="Times New Roman"/>
              </a:rPr>
              <a:t>Multi-Agent System</a:t>
            </a:r>
            <a:endParaRPr sz="1600" dirty="0">
              <a:latin typeface="Times New Roman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4B2ED5-91B5-E3F7-0AA3-1D6B699D6923}"/>
              </a:ext>
            </a:extLst>
          </p:cNvPr>
          <p:cNvSpPr txBox="1"/>
          <p:nvPr/>
        </p:nvSpPr>
        <p:spPr>
          <a:xfrm>
            <a:off x="646044" y="4055882"/>
            <a:ext cx="7903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individuals turn into a system, complexity emerges, and so does potential.</a:t>
            </a:r>
          </a:p>
        </p:txBody>
      </p:sp>
    </p:spTree>
    <p:extLst>
      <p:ext uri="{BB962C8B-B14F-4D97-AF65-F5344CB8AC3E}">
        <p14:creationId xmlns:p14="http://schemas.microsoft.com/office/powerpoint/2010/main" val="1848124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3A440-E7F4-3FB4-6F66-EB7DA8A9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5B97E-6196-5A5A-B173-7BE39144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15FD02CA-A198-3B8B-7A38-15F015A574E4}"/>
              </a:ext>
            </a:extLst>
          </p:cNvPr>
          <p:cNvSpPr txBox="1"/>
          <p:nvPr/>
        </p:nvSpPr>
        <p:spPr>
          <a:xfrm>
            <a:off x="8531352" y="6309360"/>
            <a:ext cx="2743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>
                <a:solidFill>
                  <a:srgbClr val="64606E"/>
                </a:solidFill>
                <a:latin typeface="Times New Roman"/>
              </a:defRPr>
            </a:pPr>
            <a:r>
              <a:rPr sz="950">
                <a:latin typeface="Times New Roman"/>
              </a:rPr>
              <a:t>06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647AC6D3-D9ED-194F-8049-8677AB58F7BA}"/>
              </a:ext>
            </a:extLst>
          </p:cNvPr>
          <p:cNvSpPr txBox="1"/>
          <p:nvPr/>
        </p:nvSpPr>
        <p:spPr>
          <a:xfrm>
            <a:off x="3285877" y="1843909"/>
            <a:ext cx="8046720" cy="86793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3A1C5C"/>
                </a:solidFill>
                <a:latin typeface="Times New Roman"/>
              </a:defRPr>
            </a:pPr>
            <a:r>
              <a:rPr lang="en-US" altLang="zh-CN" sz="5400" dirty="0">
                <a:latin typeface="Times New Roman"/>
              </a:rPr>
              <a:t>Thanks!</a:t>
            </a:r>
            <a:endParaRPr sz="54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7438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</TotalTime>
  <Words>782</Words>
  <Application>Microsoft Macintosh PowerPoint</Application>
  <PresentationFormat>全屏显示(16:9)</PresentationFormat>
  <Paragraphs>166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Rivera</dc:creator>
  <cp:lastModifiedBy>2110393816@qq.com</cp:lastModifiedBy>
  <cp:revision>36</cp:revision>
  <dcterms:created xsi:type="dcterms:W3CDTF">2015-07-21T16:44:10Z</dcterms:created>
  <dcterms:modified xsi:type="dcterms:W3CDTF">2026-05-11T16:29:48Z</dcterms:modified>
</cp:coreProperties>
</file>