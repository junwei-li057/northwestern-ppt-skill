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8" r:id="rId7"/>
    <p:sldId id="261" r:id="rId8"/>
    <p:sldId id="262" r:id="rId9"/>
    <p:sldId id="267" r:id="rId10"/>
    <p:sldId id="266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5"/>
    <p:restoredTop sz="96143" autoAdjust="0"/>
  </p:normalViewPr>
  <p:slideViewPr>
    <p:cSldViewPr snapToGrid="0" snapToObjects="1">
      <p:cViewPr varScale="1">
        <p:scale>
          <a:sx n="153" d="100"/>
          <a:sy n="153" d="100"/>
        </p:scale>
        <p:origin x="168" y="2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3" d="100"/>
          <a:sy n="93" d="100"/>
        </p:scale>
        <p:origin x="390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82BA9-193E-D440-8A2C-9653656F2AE3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3C63D-0C1A-0E4C-A0BD-8D65A9542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56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1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0783E5B2-1D8D-489C-3B92-04CF2C8C9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2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EE3AC06E-3F52-9419-751E-396E61B23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3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2128C396-C504-696D-4BCB-0A3EB5638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4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7D99ECB0-9CE4-FDC3-05EA-D944F738B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1F647-1E5A-7F08-1B3E-ADF27DE7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919D3E-EE84-0E1C-895E-888114F31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D0BDE-AF2A-767B-21DF-EB38B3A1F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5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4A2A5737-C364-A35B-AF91-5110CD278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625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6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6DA69016-28A1-AD26-96FC-ED1450416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7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AEA71EDD-0103-9E87-041B-F91400A36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FEE2-4CA3-382F-D943-E87F9AB1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982B9-0F6B-2CD5-462B-11DF6BD28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5F1E4-99DE-A326-351C-E71CF73B9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8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CF72BB53-B826-438D-F89D-A7A20D510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644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6656-EFAC-6E4C-BC12-B9B93779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A6EA4-5F74-90E2-FED6-A4EB15058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CAFFB-9535-25CE-3F86-4CE259882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9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B6C29E4F-BF86-E92E-CA92-BD0AE15B6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80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542060"/>
            <a:ext cx="9144000" cy="2054160"/>
          </a:xfrm>
        </p:spPr>
        <p:txBody>
          <a:bodyPr/>
          <a:lstStyle>
            <a:lvl1pPr algn="ctr">
              <a:defRPr>
                <a:solidFill>
                  <a:srgbClr val="404040"/>
                </a:solidFill>
                <a:latin typeface="Arial"/>
              </a:defRPr>
            </a:lvl1pPr>
          </a:lstStyle>
          <a:p>
            <a:r>
              <a:rPr lang="en-US" dirty="0"/>
              <a:t>Separator </a:t>
            </a:r>
          </a:p>
        </p:txBody>
      </p:sp>
      <p:pic>
        <p:nvPicPr>
          <p:cNvPr id="3" name="Picture 2" descr="NWU PPT Wide Opt 4_Separato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7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3421027-4EC0-9C48-8CFB-B8A3104CB056}" type="datetime1">
              <a:rPr lang="en-US" smtClean="0"/>
              <a:pPr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0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FA5DAB8B-8178-D047-869E-5A62AF236443}" type="datetime1">
              <a:rPr lang="en-US" smtClean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9AB8213-A564-3C44-8CA0-968996562138}" type="datetime1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0A83DA12-03A5-114A-ABAE-78CD6BB6AC19}" type="datetime1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3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FFF386F-14E4-954A-9EC2-E277FFD66D49}" type="datetime1">
              <a:rPr lang="en-US" smtClean="0"/>
              <a:pPr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2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8FFCF06-3344-8345-BEA6-DDAEFCC6ECCE}" type="datetime1">
              <a:rPr lang="en-US" smtClean="0"/>
              <a:pPr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7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84C6D879-35D4-554E-9D6D-93E8130AA922}" type="datetime1">
              <a:rPr lang="en-US" smtClean="0"/>
              <a:pPr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800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000">
                <a:latin typeface="Arial"/>
              </a:defRPr>
            </a:lvl4pPr>
            <a:lvl5pPr>
              <a:defRPr sz="2000">
                <a:latin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AB182AE3-760A-8E44-AB65-03A533386DFC}" type="datetime1">
              <a:rPr lang="en-US" smtClean="0"/>
              <a:pPr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4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>
                <a:latin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362BA78-8688-C546-A03A-2A39F84C0B58}" type="datetime1">
              <a:rPr lang="en-US" smtClean="0"/>
              <a:pPr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EF5B9135-15EF-DE46-84CC-16626B0FAF7F}" type="datetime1">
              <a:rPr lang="en-US" smtClean="0"/>
              <a:pPr/>
              <a:t>6/2/26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136197" y="-30456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2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7ADD-011F-3541-9724-9C7FC92455D5}" type="datetime1">
              <a:rPr lang="en-US" smtClean="0"/>
              <a:t>6/2/26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C176C-065F-124D-AAA4-94F2B7A2EC7C}" type="datetime1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NWU PPT Wide Opt 4_Master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6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4282"/>
            <a:ext cx="7772400" cy="1102519"/>
          </a:xfrm>
        </p:spPr>
        <p:txBody>
          <a:bodyPr>
            <a:normAutofit fontScale="90000"/>
          </a:bodyPr>
          <a:lstStyle/>
          <a:p>
            <a:r>
              <a:rPr lang="en" altLang="zh-CN" sz="32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Straightforward Bayesian A/B Testing
with Dirichlet Posteriors</a:t>
            </a:r>
            <a:br>
              <a:rPr lang="en" altLang="zh-CN" sz="3200" b="1" dirty="0">
                <a:solidFill>
                  <a:srgbClr val="32236E"/>
                </a:solidFill>
              </a:rPr>
            </a:br>
            <a:endParaRPr sz="32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41112"/>
            <a:ext cx="6400800" cy="1314450"/>
          </a:xfrm>
        </p:spPr>
        <p:txBody>
          <a:bodyPr>
            <a:normAutofit lnSpcReduction="10000"/>
          </a:bodyPr>
          <a:lstStyle/>
          <a:p>
            <a:pPr lvl="0"/>
            <a:r>
              <a:rPr lang="en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scalable Bayesian histogram approach for industry experimentation</a:t>
            </a:r>
            <a:endParaRPr lang="en" altLang="zh-CN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br>
              <a:rPr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Junwei Li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85AD7F-849C-F75F-36A9-A04D47E266BD}"/>
              </a:ext>
            </a:extLst>
          </p:cNvPr>
          <p:cNvSpPr txBox="1"/>
          <p:nvPr/>
        </p:nvSpPr>
        <p:spPr>
          <a:xfrm>
            <a:off x="73478" y="4463787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Hayden and Armitage, 2025, arXiv:2508.08077.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1618"/>
            <a:ext cx="5899820" cy="8572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6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A/B Test: Useful in Industry Setting</a:t>
            </a:r>
            <a:endParaRPr sz="26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1</a:t>
            </a:fld>
            <a:endParaRPr lang="en-US" sz="1320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DCC53644-6DEA-4256-2988-1F7386D04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8868"/>
            <a:ext cx="8229600" cy="3394472"/>
          </a:xfrm>
        </p:spPr>
        <p:txBody>
          <a:bodyPr>
            <a:normAutofit/>
          </a:bodyPr>
          <a:lstStyle/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we want to execute a strategy (e.g. change UI design, modify an algorithm parameter, etc.), and it’s hard to analyze its influence theoretically.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metric: CTR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proportion of users who click on something after seeing it, such as an ad, link, etc.)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F4376D-C4CA-B167-A3E2-218D29D7C666}"/>
              </a:ext>
            </a:extLst>
          </p:cNvPr>
          <p:cNvSpPr txBox="1"/>
          <p:nvPr/>
        </p:nvSpPr>
        <p:spPr>
          <a:xfrm>
            <a:off x="457200" y="2863265"/>
            <a:ext cx="1982550" cy="1077218"/>
          </a:xfrm>
          <a:prstGeom prst="rect">
            <a:avLst/>
          </a:prstGeom>
          <a:ln w="28575"/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600" b="1" dirty="0"/>
              <a:t>Question: </a:t>
            </a:r>
            <a:r>
              <a:rPr kumimoji="1" lang="en-US" altLang="zh-CN" sz="1600" dirty="0"/>
              <a:t>Would changing the color of this link </a:t>
            </a:r>
            <a:r>
              <a:rPr kumimoji="1" lang="en-US" altLang="zh-CN" sz="1600" b="1" dirty="0"/>
              <a:t>from </a:t>
            </a:r>
            <a:r>
              <a:rPr kumimoji="1" lang="en-US" altLang="zh-CN" sz="1600" b="1" dirty="0">
                <a:solidFill>
                  <a:srgbClr val="0070C0"/>
                </a:solidFill>
              </a:rPr>
              <a:t>blue</a:t>
            </a:r>
            <a:r>
              <a:rPr kumimoji="1" lang="en-US" altLang="zh-CN" sz="1600" b="1" dirty="0"/>
              <a:t> to </a:t>
            </a:r>
            <a:r>
              <a:rPr kumimoji="1" lang="en-US" altLang="zh-CN" sz="1600" b="1" dirty="0">
                <a:solidFill>
                  <a:srgbClr val="FF0000"/>
                </a:solidFill>
              </a:rPr>
              <a:t>red</a:t>
            </a:r>
            <a:r>
              <a:rPr kumimoji="1" lang="en-US" altLang="zh-CN" sz="1600" b="1" dirty="0"/>
              <a:t> </a:t>
            </a:r>
            <a:r>
              <a:rPr kumimoji="1" lang="en-US" altLang="zh-CN" sz="1600" dirty="0"/>
              <a:t>improve CTR?</a:t>
            </a:r>
            <a:endParaRPr kumimoji="1" lang="zh-CN" altLang="en-US" sz="1600" dirty="0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FA668FAE-BDFF-437E-A580-61CD9381513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439750" y="3401874"/>
            <a:ext cx="1196225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310E9F6-7355-B35E-569C-F4BD623E8B96}"/>
              </a:ext>
            </a:extLst>
          </p:cNvPr>
          <p:cNvSpPr txBox="1"/>
          <p:nvPr/>
        </p:nvSpPr>
        <p:spPr>
          <a:xfrm>
            <a:off x="2439750" y="3124875"/>
            <a:ext cx="1196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randomly assign</a:t>
            </a:r>
            <a:endParaRPr kumimoji="1"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DA77834-D3CC-1688-F120-1E081A3EDE7B}"/>
              </a:ext>
            </a:extLst>
          </p:cNvPr>
          <p:cNvSpPr txBox="1"/>
          <p:nvPr/>
        </p:nvSpPr>
        <p:spPr>
          <a:xfrm>
            <a:off x="2659104" y="3401874"/>
            <a:ext cx="757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the users</a:t>
            </a:r>
            <a:endParaRPr kumimoji="1"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765166-62A0-43B7-0A46-EBCD9B27EE2D}"/>
              </a:ext>
            </a:extLst>
          </p:cNvPr>
          <p:cNvSpPr txBox="1"/>
          <p:nvPr/>
        </p:nvSpPr>
        <p:spPr>
          <a:xfrm>
            <a:off x="3915167" y="2678599"/>
            <a:ext cx="1600951" cy="584775"/>
          </a:xfrm>
          <a:prstGeom prst="rect">
            <a:avLst/>
          </a:prstGeom>
          <a:ln w="28575"/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/>
              <a:t>Group A</a:t>
            </a:r>
            <a:br>
              <a:rPr kumimoji="1" lang="en-US" altLang="zh-CN" sz="1600" dirty="0"/>
            </a:br>
            <a:r>
              <a:rPr kumimoji="1" lang="en-US" altLang="zh-CN" sz="1600" dirty="0"/>
              <a:t>(</a:t>
            </a:r>
            <a:r>
              <a:rPr kumimoji="1" lang="en-US" altLang="zh-CN" sz="1600" dirty="0">
                <a:solidFill>
                  <a:srgbClr val="FF0000"/>
                </a:solidFill>
              </a:rPr>
              <a:t>Red</a:t>
            </a:r>
            <a:r>
              <a:rPr kumimoji="1" lang="en-US" altLang="zh-CN" sz="1600" dirty="0"/>
              <a:t>)</a:t>
            </a:r>
            <a:endParaRPr kumimoji="1" lang="zh-CN" altLang="en-US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3D43F8-EBEC-BDA5-8C7A-7ED4B1B4BDEA}"/>
              </a:ext>
            </a:extLst>
          </p:cNvPr>
          <p:cNvSpPr txBox="1"/>
          <p:nvPr/>
        </p:nvSpPr>
        <p:spPr>
          <a:xfrm>
            <a:off x="3915168" y="3573213"/>
            <a:ext cx="1600951" cy="584775"/>
          </a:xfrm>
          <a:prstGeom prst="rect">
            <a:avLst/>
          </a:prstGeom>
          <a:ln w="28575"/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/>
              <a:t>Group B</a:t>
            </a:r>
            <a:br>
              <a:rPr kumimoji="1" lang="en-US" altLang="zh-CN" sz="1600" dirty="0"/>
            </a:br>
            <a:r>
              <a:rPr kumimoji="1" lang="en-US" altLang="zh-CN" sz="1600" dirty="0"/>
              <a:t>(</a:t>
            </a:r>
            <a:r>
              <a:rPr kumimoji="1" lang="en-US" altLang="zh-CN" sz="1600" dirty="0">
                <a:solidFill>
                  <a:srgbClr val="0070C0"/>
                </a:solidFill>
              </a:rPr>
              <a:t>Blue</a:t>
            </a:r>
            <a:r>
              <a:rPr kumimoji="1" lang="en-US" altLang="zh-CN" sz="1600" dirty="0"/>
              <a:t>, No change)</a:t>
            </a:r>
            <a:endParaRPr kumimoji="1" lang="zh-CN" altLang="en-US" sz="1600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95FACB5D-B4C7-9B51-6FC3-AFA016A5E689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635973" y="2970987"/>
            <a:ext cx="279194" cy="430887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49D2B38E-3379-8DA4-8390-476058D12035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3635973" y="3400098"/>
            <a:ext cx="279195" cy="465503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FA9D4B73-1F36-90FE-7060-7DB3852ED65B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5516118" y="2970987"/>
            <a:ext cx="489236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B61E3866-BE24-3322-D3A5-93D7F7516F4A}"/>
              </a:ext>
            </a:extLst>
          </p:cNvPr>
          <p:cNvSpPr txBox="1"/>
          <p:nvPr/>
        </p:nvSpPr>
        <p:spPr>
          <a:xfrm>
            <a:off x="5516118" y="2724765"/>
            <a:ext cx="4892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soon</a:t>
            </a:r>
            <a:endParaRPr kumimoji="1" lang="zh-CN" altLang="en-US" sz="1200" dirty="0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94591F33-7CAB-B20A-83FE-3CED4654C525}"/>
              </a:ext>
            </a:extLst>
          </p:cNvPr>
          <p:cNvCxnSpPr>
            <a:cxnSpLocks/>
          </p:cNvCxnSpPr>
          <p:nvPr/>
        </p:nvCxnSpPr>
        <p:spPr>
          <a:xfrm>
            <a:off x="5516118" y="3903014"/>
            <a:ext cx="489236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C88D13B-7962-6E74-3214-D0FE663EF501}"/>
              </a:ext>
            </a:extLst>
          </p:cNvPr>
          <p:cNvSpPr txBox="1"/>
          <p:nvPr/>
        </p:nvSpPr>
        <p:spPr>
          <a:xfrm>
            <a:off x="5516118" y="3656792"/>
            <a:ext cx="4892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soon</a:t>
            </a:r>
            <a:endParaRPr kumimoji="1"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E0E28AE-3028-4094-FDF1-266F3ED22C3A}"/>
                  </a:ext>
                </a:extLst>
              </p:cNvPr>
              <p:cNvSpPr txBox="1"/>
              <p:nvPr/>
            </p:nvSpPr>
            <p:spPr>
              <a:xfrm>
                <a:off x="5992806" y="2786321"/>
                <a:ext cx="998730" cy="343299"/>
              </a:xfrm>
              <a:prstGeom prst="rect">
                <a:avLst/>
              </a:prstGeom>
              <a:ln w="28575"/>
              <a:effectLst>
                <a:softEdge rad="12700"/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600" b="0" i="0" dirty="0" smtClean="0">
                              <a:latin typeface="Cambria Math" panose="02040503050406030204" pitchFamily="18" charset="0"/>
                            </a:rPr>
                            <m:t>CTR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kumimoji="1" lang="zh-CN" alt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zh-CN" altLang="en-US" sz="16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E0E28AE-3028-4094-FDF1-266F3ED22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806" y="2786321"/>
                <a:ext cx="998730" cy="343299"/>
              </a:xfrm>
              <a:prstGeom prst="rect">
                <a:avLst/>
              </a:prstGeom>
              <a:blipFill>
                <a:blip r:embed="rId3"/>
                <a:stretch>
                  <a:fillRect t="-3333" r="-1220" b="-13333"/>
                </a:stretch>
              </a:blipFill>
              <a:ln w="28575"/>
              <a:effectLst>
                <a:softEdge rad="12700"/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FB37799-5A54-A64C-EDD1-7B89AA48E021}"/>
                  </a:ext>
                </a:extLst>
              </p:cNvPr>
              <p:cNvSpPr txBox="1"/>
              <p:nvPr/>
            </p:nvSpPr>
            <p:spPr>
              <a:xfrm>
                <a:off x="6005353" y="3716521"/>
                <a:ext cx="986183" cy="342017"/>
              </a:xfrm>
              <a:prstGeom prst="rect">
                <a:avLst/>
              </a:prstGeom>
              <a:ln w="28575"/>
              <a:effectLst>
                <a:softEdge rad="12700"/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600" b="0" i="0" dirty="0" smtClean="0">
                              <a:latin typeface="Cambria Math" panose="02040503050406030204" pitchFamily="18" charset="0"/>
                            </a:rPr>
                            <m:t>CTR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CN" sz="1600" i="1" dirty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kumimoji="1" lang="zh-CN" altLang="en-US" sz="16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zh-CN" altLang="en-US" sz="16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kumimoji="1" lang="en-US" altLang="zh-CN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FB37799-5A54-A64C-EDD1-7B89AA48E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353" y="3716521"/>
                <a:ext cx="986183" cy="342017"/>
              </a:xfrm>
              <a:prstGeom prst="rect">
                <a:avLst/>
              </a:prstGeom>
              <a:blipFill>
                <a:blip r:embed="rId4"/>
                <a:stretch>
                  <a:fillRect r="-2469" b="-9677"/>
                </a:stretch>
              </a:blipFill>
              <a:ln w="28575"/>
              <a:effectLst>
                <a:softEdge rad="12700"/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A4FBDAFA-5F00-FE34-8431-5AD67EA370DE}"/>
              </a:ext>
            </a:extLst>
          </p:cNvPr>
          <p:cNvSpPr txBox="1"/>
          <p:nvPr/>
        </p:nvSpPr>
        <p:spPr>
          <a:xfrm>
            <a:off x="7365041" y="2786321"/>
            <a:ext cx="16009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Use hypothesis test to see if the two CTR have </a:t>
            </a:r>
            <a:r>
              <a:rPr kumimoji="1" lang="en-US" altLang="zh-CN" sz="1600" b="1" dirty="0"/>
              <a:t>significant difference</a:t>
            </a:r>
            <a:endParaRPr kumimoji="1" lang="zh-CN" altLang="en-US" sz="1600" b="1" dirty="0"/>
          </a:p>
        </p:txBody>
      </p:sp>
      <p:sp>
        <p:nvSpPr>
          <p:cNvPr id="37" name="右箭头 36">
            <a:extLst>
              <a:ext uri="{FF2B5EF4-FFF2-40B4-BE49-F238E27FC236}">
                <a16:creationId xmlns:a16="http://schemas.microsoft.com/office/drawing/2014/main" id="{09638E8E-228C-07E7-5954-C3612A8831CF}"/>
              </a:ext>
            </a:extLst>
          </p:cNvPr>
          <p:cNvSpPr/>
          <p:nvPr/>
        </p:nvSpPr>
        <p:spPr>
          <a:xfrm>
            <a:off x="6991536" y="3353882"/>
            <a:ext cx="373505" cy="184666"/>
          </a:xfrm>
          <a:prstGeom prst="rightArrow">
            <a:avLst/>
          </a:prstGeom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898" y="92046"/>
            <a:ext cx="8229600" cy="857250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Bayesian A/B Test: Adds Information</a:t>
            </a:r>
            <a:endParaRPr sz="24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2</a:t>
            </a:fld>
            <a:endParaRPr lang="en-US" sz="13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D34BB24-4366-1B36-A56F-E45F0328044F}"/>
                  </a:ext>
                </a:extLst>
              </p:cNvPr>
              <p:cNvSpPr txBox="1"/>
              <p:nvPr/>
            </p:nvSpPr>
            <p:spPr>
              <a:xfrm>
                <a:off x="554502" y="949296"/>
                <a:ext cx="8034996" cy="1528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400"/>
                  </a:spcAft>
                  <a:defRPr sz="1350">
                    <a:solidFill>
                      <a:srgbClr val="27272D"/>
                    </a:solidFill>
                  </a:defRPr>
                </a:pPr>
                <a:r>
                  <a:rPr lang="en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Traditional A/B asks: </a:t>
                </a:r>
              </a:p>
              <a:p>
                <a:pPr marL="285750" indent="-285750">
                  <a:spcAft>
                    <a:spcPts val="400"/>
                  </a:spcAft>
                  <a:buFont typeface="Arial" panose="020B0604020202020204" pitchFamily="34" charset="0"/>
                  <a:buChar char="•"/>
                  <a:defRPr sz="1350">
                    <a:solidFill>
                      <a:srgbClr val="27272D"/>
                    </a:solidFill>
                  </a:defRPr>
                </a:pPr>
                <a:r>
                  <a:rPr lang="e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Whether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&lt;0.05</m:t>
                    </m:r>
                  </m:oMath>
                </a14:m>
                <a:r>
                  <a:rPr lang="e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not?</a:t>
                </a:r>
              </a:p>
              <a:p>
                <a:pPr>
                  <a:spcAft>
                    <a:spcPts val="400"/>
                  </a:spcAft>
                  <a:defRPr sz="1350">
                    <a:solidFill>
                      <a:srgbClr val="27272D"/>
                    </a:solidFill>
                  </a:defRPr>
                </a:pPr>
                <a:r>
                  <a:rPr lang="en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Bayesian A/B asks:</a:t>
                </a:r>
              </a:p>
              <a:p>
                <a:pPr marL="285750" indent="-285750">
                  <a:spcAft>
                    <a:spcPts val="400"/>
                  </a:spcAft>
                  <a:buFont typeface="Arial" panose="020B0604020202020204" pitchFamily="34" charset="0"/>
                  <a:buChar char="•"/>
                  <a:defRPr sz="1350">
                    <a:solidFill>
                      <a:srgbClr val="27272D"/>
                    </a:solidFill>
                  </a:defRPr>
                </a:pPr>
                <a:r>
                  <a:rPr lang="e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the probability that Experimental beats Control?  </a:t>
                </a:r>
                <a:r>
                  <a:rPr lang="en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𝐶𝑇𝑅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𝐶𝑇𝑅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𝑑𝑎𝑡𝑎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" altLang="zh-C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Aft>
                    <a:spcPts val="400"/>
                  </a:spcAft>
                  <a:buFont typeface="Arial" panose="020B0604020202020204" pitchFamily="34" charset="0"/>
                  <a:buChar char="•"/>
                  <a:defRPr sz="1350">
                    <a:solidFill>
                      <a:srgbClr val="27272D"/>
                    </a:solidFill>
                  </a:defRPr>
                </a:pPr>
                <a:r>
                  <a:rPr lang="e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ship Experimental and it is worse, what is the expected downside?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D34BB24-4366-1B36-A56F-E45F03280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02" y="949296"/>
                <a:ext cx="8034996" cy="1528624"/>
              </a:xfrm>
              <a:prstGeom prst="rect">
                <a:avLst/>
              </a:prstGeom>
              <a:blipFill>
                <a:blip r:embed="rId3"/>
                <a:stretch>
                  <a:fillRect l="-315" t="-826" b="-4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7DF76EB1-6F59-44EA-BE33-B90EC419179C}"/>
              </a:ext>
            </a:extLst>
          </p:cNvPr>
          <p:cNvSpPr txBox="1"/>
          <p:nvPr/>
        </p:nvSpPr>
        <p:spPr>
          <a:xfrm>
            <a:off x="6135111" y="2477920"/>
            <a:ext cx="296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for business decision</a:t>
            </a:r>
            <a:endParaRPr kumimoji="1" lang="zh-CN" altLang="en-US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1D78B3-8446-D4AD-4FB0-609DA944EFE5}"/>
                  </a:ext>
                </a:extLst>
              </p:cNvPr>
              <p:cNvSpPr txBox="1"/>
              <p:nvPr/>
            </p:nvSpPr>
            <p:spPr>
              <a:xfrm>
                <a:off x="554502" y="2944404"/>
                <a:ext cx="7828847" cy="111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</a:t>
                </a:r>
                <a:r>
                  <a:rPr kumimoji="1"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 obvious question (which also </a:t>
                </a:r>
                <a:r>
                  <a:rPr kumimoji="1"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motivates this paper</a:t>
                </a:r>
                <a:r>
                  <a:rPr kumimoji="1"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kumimoji="1" lang="en-US" altLang="zh-CN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we only have the observed data, so what is </a:t>
                </a:r>
                <a:r>
                  <a:rPr kumimoji="1" lang="en-US" altLang="zh-CN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prior</a:t>
                </a:r>
                <a:r>
                  <a:rPr kumimoji="1"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What is </a:t>
                </a:r>
                <a:r>
                  <a:rPr kumimoji="1"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likelihood</a:t>
                </a:r>
                <a:r>
                  <a:rPr kumimoji="1"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kumimoji="1"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1D78B3-8446-D4AD-4FB0-609DA944E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02" y="2944404"/>
                <a:ext cx="7828847" cy="1119730"/>
              </a:xfrm>
              <a:prstGeom prst="rect">
                <a:avLst/>
              </a:prstGeom>
              <a:blipFill>
                <a:blip r:embed="rId4"/>
                <a:stretch>
                  <a:fillRect l="-324" t="-1111" b="-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EB12582A-C723-33C4-3C28-573EB0B6A896}"/>
              </a:ext>
            </a:extLst>
          </p:cNvPr>
          <p:cNvSpPr txBox="1"/>
          <p:nvPr/>
        </p:nvSpPr>
        <p:spPr>
          <a:xfrm>
            <a:off x="4114800" y="211606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A969DD-6BC3-153E-97E5-D7073949A152}"/>
              </a:ext>
            </a:extLst>
          </p:cNvPr>
          <p:cNvSpPr txBox="1"/>
          <p:nvPr/>
        </p:nvSpPr>
        <p:spPr>
          <a:xfrm>
            <a:off x="5067736" y="4006544"/>
            <a:ext cx="4503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Normal, Beta, Gamma… How to choose a reasonable one?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49E601B-E118-664A-37A7-01B7AB60899F}"/>
              </a:ext>
            </a:extLst>
          </p:cNvPr>
          <p:cNvSpPr txBox="1"/>
          <p:nvPr/>
        </p:nvSpPr>
        <p:spPr>
          <a:xfrm>
            <a:off x="1723710" y="4248404"/>
            <a:ext cx="72241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</a:t>
            </a:r>
            <a:r>
              <a:rPr lang="zh-CN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 companies run </a:t>
            </a:r>
            <a:r>
              <a:rPr lang="zh-CN" altLang="zh-CN" sz="1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hundreds of A/B tests a day</a:t>
            </a:r>
            <a:r>
              <a:rPr lang="zh-CN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Picking the right model form one by one is too time-consuming.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3</a:t>
            </a:fld>
            <a:endParaRPr lang="en-US" sz="132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EF2AABB-943E-4EB8-E211-13B2E64B7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98" y="92046"/>
            <a:ext cx="8229600" cy="857250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After binning:</a:t>
            </a:r>
            <a:r>
              <a:rPr lang="zh-CN" altLang="en-US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 </a:t>
            </a:r>
            <a:r>
              <a:rPr lang="en-US" altLang="zh-CN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Dirichlet Prior &amp; Multinomial Likelihood</a:t>
            </a:r>
            <a:r>
              <a:rPr lang="en-US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 </a:t>
            </a:r>
            <a:endParaRPr sz="24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pic>
        <p:nvPicPr>
          <p:cNvPr id="8" name="Picture 8" descr="fig1.png">
            <a:extLst>
              <a:ext uri="{FF2B5EF4-FFF2-40B4-BE49-F238E27FC236}">
                <a16:creationId xmlns:a16="http://schemas.microsoft.com/office/drawing/2014/main" id="{3952503E-21EB-6C48-952F-67F92969F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98" y="949296"/>
            <a:ext cx="4212102" cy="213499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742042A-A94A-41E7-B672-E3E4A7249186}"/>
              </a:ext>
            </a:extLst>
          </p:cNvPr>
          <p:cNvSpPr txBox="1"/>
          <p:nvPr/>
        </p:nvSpPr>
        <p:spPr>
          <a:xfrm>
            <a:off x="4572000" y="1072790"/>
            <a:ext cx="356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istogram approximation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7856E9-B251-414C-88E2-EAC7115BD928}"/>
              </a:ext>
            </a:extLst>
          </p:cNvPr>
          <p:cNvSpPr txBox="1"/>
          <p:nvPr/>
        </p:nvSpPr>
        <p:spPr>
          <a:xfrm>
            <a:off x="4572000" y="1888783"/>
            <a:ext cx="4698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only a distribution with 1 or 2 parameters, we need to 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an entire probability 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272F9C9C-6555-7046-D088-D2FBE279CC48}"/>
              </a:ext>
            </a:extLst>
          </p:cNvPr>
          <p:cNvSpPr/>
          <p:nvPr/>
        </p:nvSpPr>
        <p:spPr>
          <a:xfrm rot="5400000">
            <a:off x="6417961" y="1577361"/>
            <a:ext cx="457943" cy="187465"/>
          </a:xfrm>
          <a:prstGeom prst="rightArrow">
            <a:avLst/>
          </a:prstGeom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43F2D93B-C7A5-7882-D154-2E942616BF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549836"/>
                  </p:ext>
                </p:extLst>
              </p:nvPr>
            </p:nvGraphicFramePr>
            <p:xfrm>
              <a:off x="1524000" y="332903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3274">
                      <a:extLst>
                        <a:ext uri="{9D8B030D-6E8A-4147-A177-3AD203B41FA5}">
                          <a16:colId xmlns:a16="http://schemas.microsoft.com/office/drawing/2014/main" val="2851643224"/>
                        </a:ext>
                      </a:extLst>
                    </a:gridCol>
                    <a:gridCol w="4342726">
                      <a:extLst>
                        <a:ext uri="{9D8B030D-6E8A-4147-A177-3AD203B41FA5}">
                          <a16:colId xmlns:a16="http://schemas.microsoft.com/office/drawing/2014/main" val="37139030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1800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Prior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~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𝐷𝑖𝑟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1, 1, ⋯,1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2889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1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Likelihood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~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𝑀𝑢𝑙𝑡𝑖𝑛𝑜𝑚𝑖𝑎𝑙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⋯,</m:t>
                                    </m:r>
                                    <m:sSub>
                                      <m:sSubPr>
                                        <m:ctrlP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95412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43F2D93B-C7A5-7882-D154-2E942616BF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549836"/>
                  </p:ext>
                </p:extLst>
              </p:nvPr>
            </p:nvGraphicFramePr>
            <p:xfrm>
              <a:off x="1524000" y="332903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3274">
                      <a:extLst>
                        <a:ext uri="{9D8B030D-6E8A-4147-A177-3AD203B41FA5}">
                          <a16:colId xmlns:a16="http://schemas.microsoft.com/office/drawing/2014/main" val="2851643224"/>
                        </a:ext>
                      </a:extLst>
                    </a:gridCol>
                    <a:gridCol w="4342726">
                      <a:extLst>
                        <a:ext uri="{9D8B030D-6E8A-4147-A177-3AD203B41FA5}">
                          <a16:colId xmlns:a16="http://schemas.microsoft.com/office/drawing/2014/main" val="37139030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1800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Prior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643" t="-6667" r="-585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2889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1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Likelihood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0643" t="-110345" r="-585" b="-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95412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5356"/>
            <a:ext cx="2133600" cy="273844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4</a:t>
            </a:fld>
            <a:endParaRPr lang="en-US" sz="13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780F810-8FA5-9BC3-BB86-E2D69D2A4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98" y="92046"/>
            <a:ext cx="8229600" cy="857250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altLang="zh-CN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Details about Dirichlet Distribution</a:t>
            </a:r>
            <a:endParaRPr sz="24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74B8824-D487-AD0B-AB52-5C29FD774866}"/>
              </a:ext>
            </a:extLst>
          </p:cNvPr>
          <p:cNvGrpSpPr/>
          <p:nvPr/>
        </p:nvGrpSpPr>
        <p:grpSpPr>
          <a:xfrm>
            <a:off x="374979" y="967863"/>
            <a:ext cx="8394042" cy="1728873"/>
            <a:chOff x="380422" y="2857650"/>
            <a:chExt cx="8394042" cy="1728873"/>
          </a:xfrm>
        </p:grpSpPr>
        <p:sp>
          <p:nvSpPr>
            <p:cNvPr id="30" name="左大括号 29">
              <a:extLst>
                <a:ext uri="{FF2B5EF4-FFF2-40B4-BE49-F238E27FC236}">
                  <a16:creationId xmlns:a16="http://schemas.microsoft.com/office/drawing/2014/main" id="{217DAD4E-2F97-9449-105B-18C09C4FFB3D}"/>
                </a:ext>
              </a:extLst>
            </p:cNvPr>
            <p:cNvSpPr/>
            <p:nvPr/>
          </p:nvSpPr>
          <p:spPr>
            <a:xfrm>
              <a:off x="1650775" y="3282332"/>
              <a:ext cx="113288" cy="1011504"/>
            </a:xfrm>
            <a:prstGeom prst="leftBrac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875343E-DB27-C803-418F-186A54CABA0E}"/>
                    </a:ext>
                  </a:extLst>
                </p:cNvPr>
                <p:cNvSpPr txBox="1"/>
                <p:nvPr/>
              </p:nvSpPr>
              <p:spPr>
                <a:xfrm>
                  <a:off x="1331435" y="2857650"/>
                  <a:ext cx="2641951" cy="7846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nary>
                          <m:naryPr>
                            <m:chr m:val="∏"/>
                            <m:ctrlPr>
                              <a:rPr kumimoji="1" lang="zh-CN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Sup>
                              <m:sSubSupPr>
                                <m:ctrlPr>
                                  <a:rPr kumimoji="1" lang="zh-CN" alt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kumimoji="1" lang="zh-CN" alt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kumimoji="1" lang="en-US" altLang="zh-C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kumimoji="1" lang="zh-CN" altLang="en-US" sz="16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875343E-DB27-C803-418F-186A54CABA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1435" y="2857650"/>
                  <a:ext cx="2641951" cy="784638"/>
                </a:xfrm>
                <a:prstGeom prst="rect">
                  <a:avLst/>
                </a:prstGeom>
                <a:blipFill>
                  <a:blip r:embed="rId5"/>
                  <a:stretch>
                    <a:fillRect t="-98387" b="-15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739832CF-2489-4A42-16B6-756AFFBDE4F8}"/>
                    </a:ext>
                  </a:extLst>
                </p:cNvPr>
                <p:cNvSpPr txBox="1"/>
                <p:nvPr/>
              </p:nvSpPr>
              <p:spPr>
                <a:xfrm>
                  <a:off x="1331434" y="3801885"/>
                  <a:ext cx="2641951" cy="7846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nary>
                          <m:naryPr>
                            <m:chr m:val="∏"/>
                            <m:ctrlPr>
                              <a:rPr kumimoji="1" lang="zh-CN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Sup>
                              <m:sSubSupPr>
                                <m:ctrlPr>
                                  <a:rPr kumimoji="1" lang="zh-CN" alt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kumimoji="1" lang="zh-CN" alt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1" lang="en-US" altLang="zh-C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bSup>
                          </m:e>
                        </m:nary>
                      </m:oMath>
                    </m:oMathPara>
                  </a14:m>
                  <a:endParaRPr kumimoji="1" lang="zh-CN" altLang="en-US" sz="16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739832CF-2489-4A42-16B6-756AFFBDE4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1434" y="3801885"/>
                  <a:ext cx="2641951" cy="784638"/>
                </a:xfrm>
                <a:prstGeom prst="rect">
                  <a:avLst/>
                </a:prstGeom>
                <a:blipFill>
                  <a:blip r:embed="rId6"/>
                  <a:stretch>
                    <a:fillRect t="-96825" b="-1507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2AB692C-98F1-D17B-3622-7B841C0F8EE3}"/>
                </a:ext>
              </a:extLst>
            </p:cNvPr>
            <p:cNvSpPr txBox="1"/>
            <p:nvPr/>
          </p:nvSpPr>
          <p:spPr>
            <a:xfrm>
              <a:off x="380422" y="3596960"/>
              <a:ext cx="1184940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Conjugacy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右箭头 33">
              <a:extLst>
                <a:ext uri="{FF2B5EF4-FFF2-40B4-BE49-F238E27FC236}">
                  <a16:creationId xmlns:a16="http://schemas.microsoft.com/office/drawing/2014/main" id="{0681BA5C-A008-0097-EDBB-DF442F52F23A}"/>
                </a:ext>
              </a:extLst>
            </p:cNvPr>
            <p:cNvSpPr/>
            <p:nvPr/>
          </p:nvSpPr>
          <p:spPr>
            <a:xfrm>
              <a:off x="3577177" y="3614844"/>
              <a:ext cx="625286" cy="214485"/>
            </a:xfrm>
            <a:prstGeom prst="rightArrow">
              <a:avLst/>
            </a:prstGeom>
            <a:effectLst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3BAD7A0-50DE-F21C-5AA8-36CB5C13C159}"/>
                    </a:ext>
                  </a:extLst>
                </p:cNvPr>
                <p:cNvSpPr txBox="1"/>
                <p:nvPr/>
              </p:nvSpPr>
              <p:spPr>
                <a:xfrm>
                  <a:off x="4202464" y="3249969"/>
                  <a:ext cx="4572000" cy="8712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zh-CN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nary>
                          <m:naryPr>
                            <m:chr m:val="∏"/>
                            <m:ctrlPr>
                              <a:rPr kumimoji="1"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Sup>
                              <m:sSubSupPr>
                                <m:ctrlPr>
                                  <a:rPr kumimoji="1" lang="zh-CN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kumimoji="1" lang="zh-CN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</m:nary>
                        <m:nary>
                          <m:naryPr>
                            <m:chr m:val="∏"/>
                            <m:ctrlPr>
                              <a:rPr kumimoji="1" lang="zh-CN" alt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1"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1"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Sup>
                              <m:sSubSupPr>
                                <m:ctrlPr>
                                  <a:rPr kumimoji="1" lang="zh-CN" alt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kumimoji="1" lang="zh-CN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1" lang="en-US" altLang="zh-C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bSup>
                          </m:e>
                        </m:nary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∏"/>
                            <m:ctrlPr>
                              <a:rPr kumimoji="1"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Sup>
                              <m:sSubSupPr>
                                <m:ctrlPr>
                                  <a:rPr kumimoji="1" lang="zh-CN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kumimoji="1" lang="zh-CN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kumimoji="1"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3BAD7A0-50DE-F21C-5AA8-36CB5C13C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2464" y="3249969"/>
                  <a:ext cx="4572000" cy="871201"/>
                </a:xfrm>
                <a:prstGeom prst="rect">
                  <a:avLst/>
                </a:prstGeom>
                <a:blipFill>
                  <a:blip r:embed="rId7"/>
                  <a:stretch>
                    <a:fillRect t="-92857" b="-14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8A47BC50-18CC-012C-9484-458106D9A3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8010509"/>
                  </p:ext>
                </p:extLst>
              </p:nvPr>
            </p:nvGraphicFramePr>
            <p:xfrm>
              <a:off x="1524000" y="3091997"/>
              <a:ext cx="60960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3274">
                      <a:extLst>
                        <a:ext uri="{9D8B030D-6E8A-4147-A177-3AD203B41FA5}">
                          <a16:colId xmlns:a16="http://schemas.microsoft.com/office/drawing/2014/main" val="2851643224"/>
                        </a:ext>
                      </a:extLst>
                    </a:gridCol>
                    <a:gridCol w="4342726">
                      <a:extLst>
                        <a:ext uri="{9D8B030D-6E8A-4147-A177-3AD203B41FA5}">
                          <a16:colId xmlns:a16="http://schemas.microsoft.com/office/drawing/2014/main" val="37139030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1800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Prior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~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𝐷𝑖𝑟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1, 1, ⋯,1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2889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1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Likelihood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~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𝑀𝑢𝑙𝑡𝑖𝑛𝑜𝑚𝑖𝑎𝑙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⋯,</m:t>
                                    </m:r>
                                    <m:sSub>
                                      <m:sSubPr>
                                        <m:ctrlP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95412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Thus, </a:t>
                          </a:r>
                          <a:r>
                            <a:rPr lang="en-US" altLang="zh-C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posterior</a:t>
                          </a:r>
                          <a:endParaRPr lang="zh-CN" alt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~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𝐷𝑖𝑟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1+</m:t>
                                    </m:r>
                                    <m:sSub>
                                      <m:sSubPr>
                                        <m:ctrlP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 ⋯, 1+</m:t>
                                    </m:r>
                                    <m:sSub>
                                      <m:sSubPr>
                                        <m:ctrlP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6198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8A47BC50-18CC-012C-9484-458106D9A3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8010509"/>
                  </p:ext>
                </p:extLst>
              </p:nvPr>
            </p:nvGraphicFramePr>
            <p:xfrm>
              <a:off x="1524000" y="3091997"/>
              <a:ext cx="60960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3274">
                      <a:extLst>
                        <a:ext uri="{9D8B030D-6E8A-4147-A177-3AD203B41FA5}">
                          <a16:colId xmlns:a16="http://schemas.microsoft.com/office/drawing/2014/main" val="2851643224"/>
                        </a:ext>
                      </a:extLst>
                    </a:gridCol>
                    <a:gridCol w="4342726">
                      <a:extLst>
                        <a:ext uri="{9D8B030D-6E8A-4147-A177-3AD203B41FA5}">
                          <a16:colId xmlns:a16="http://schemas.microsoft.com/office/drawing/2014/main" val="37139030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1800" dirty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Prior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0643" t="-6667" r="-585" b="-2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2889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1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Likelihood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0643" t="-110345" r="-585" b="-1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95412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Thus, </a:t>
                          </a:r>
                          <a:r>
                            <a:rPr lang="en-US" altLang="zh-C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posterior</a:t>
                          </a:r>
                          <a:endParaRPr lang="zh-CN" alt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40643" t="-203333" r="-585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661980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EBB6E-E04C-DBF1-79ED-20B5C41B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C09D2-BD43-65AE-0124-A97733B8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75356"/>
            <a:ext cx="2133600" cy="273844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5</a:t>
            </a:fld>
            <a:endParaRPr lang="en-US" sz="13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9279C6-C079-70F6-47B0-E6C03F5B0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98" y="92046"/>
            <a:ext cx="8229600" cy="857250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altLang="zh-CN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Details about Dirichlet Distribution</a:t>
            </a:r>
            <a:endParaRPr sz="24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09C03FA-D627-727E-5A4D-F829A72FAA45}"/>
              </a:ext>
            </a:extLst>
          </p:cNvPr>
          <p:cNvGrpSpPr/>
          <p:nvPr/>
        </p:nvGrpSpPr>
        <p:grpSpPr>
          <a:xfrm>
            <a:off x="587898" y="1541686"/>
            <a:ext cx="8172966" cy="2098918"/>
            <a:chOff x="561479" y="805816"/>
            <a:chExt cx="8172966" cy="2098918"/>
          </a:xfrm>
        </p:grpSpPr>
        <p:pic>
          <p:nvPicPr>
            <p:cNvPr id="22" name="Picture 10" descr="fig7.png">
              <a:extLst>
                <a:ext uri="{FF2B5EF4-FFF2-40B4-BE49-F238E27FC236}">
                  <a16:creationId xmlns:a16="http://schemas.microsoft.com/office/drawing/2014/main" id="{B71F3D7E-4688-BEBD-F6DA-8F77A0A20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99454" y="805816"/>
              <a:ext cx="4834991" cy="206012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DF263BF-CEB9-12FE-79C5-1A1BF011C142}"/>
                    </a:ext>
                  </a:extLst>
                </p:cNvPr>
                <p:cNvSpPr txBox="1"/>
                <p:nvPr/>
              </p:nvSpPr>
              <p:spPr>
                <a:xfrm>
                  <a:off x="561479" y="916818"/>
                  <a:ext cx="3746613" cy="1987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⋯, </m:t>
                      </m:r>
                      <m:sSub>
                        <m:sSubPr>
                          <m:ctrlPr>
                            <a:rPr kumimoji="1" lang="zh-CN" alt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kumimoji="1" lang="en-US" altLang="zh-CN" sz="1600" b="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are</m:t>
                      </m:r>
                      <m:r>
                        <a:rPr kumimoji="1" lang="en-US" altLang="zh-CN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a:rPr kumimoji="1" lang="en-US" altLang="zh-CN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kumimoji="1" lang="en-US" altLang="zh-CN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a:rPr kumimoji="1" lang="en-US" altLang="zh-CN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kumimoji="1" lang="en-US" altLang="zh-CN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  <m:r>
                        <a:rPr kumimoji="1" lang="en-US" altLang="zh-CN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., </m:t>
                      </m:r>
                      <m:r>
                        <m:rPr>
                          <m:sty m:val="p"/>
                        </m:rPr>
                        <a:rPr kumimoji="1" lang="en-US" altLang="zh-CN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and</m:t>
                      </m:r>
                    </m:oMath>
                  </a14:m>
                  <a:endParaRPr kumimoji="1" lang="en-US" altLang="zh-CN" sz="16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~ </m:t>
                        </m:r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𝐺𝑎𝑚𝑚𝑎</m:t>
                        </m:r>
                        <m:d>
                          <m:dPr>
                            <m:ctrlP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1</m:t>
                            </m:r>
                          </m:e>
                        </m:d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1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r>
                    <a:rPr kumimoji="1" lang="en-US" altLang="zh-CN" sz="1600" b="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Let</a:t>
                  </a:r>
                </a:p>
                <a:p>
                  <a:pPr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kumimoji="1" lang="en-US" altLang="zh-C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kumimoji="1" lang="en-US" altLang="zh-C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1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r>
                    <a:rPr kumimoji="1" lang="en-US" altLang="zh-CN" sz="16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Then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⋯,</m:t>
                            </m:r>
                            <m:sSub>
                              <m:sSubPr>
                                <m:ctrlP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~ </m:t>
                        </m:r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𝐷𝑖𝑟</m:t>
                        </m:r>
                        <m:d>
                          <m:dPr>
                            <m:ctrlPr>
                              <a:rPr kumimoji="1"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⋯,</m:t>
                            </m:r>
                            <m:sSub>
                              <m:sSubPr>
                                <m:ctrlP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kumimoji="1" lang="en-US" altLang="zh-CN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1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DF263BF-CEB9-12FE-79C5-1A1BF011C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479" y="916818"/>
                  <a:ext cx="3746613" cy="1987916"/>
                </a:xfrm>
                <a:prstGeom prst="rect">
                  <a:avLst/>
                </a:prstGeom>
                <a:blipFill>
                  <a:blip r:embed="rId4"/>
                  <a:stretch>
                    <a:fillRect l="-1014" t="-1274" b="-38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EFC69812-0B0A-EA1A-0F1B-2D8698BF3CA8}"/>
              </a:ext>
            </a:extLst>
          </p:cNvPr>
          <p:cNvSpPr txBox="1"/>
          <p:nvPr/>
        </p:nvSpPr>
        <p:spPr>
          <a:xfrm>
            <a:off x="359898" y="1116326"/>
            <a:ext cx="165301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Method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59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6</a:t>
            </a:fld>
            <a:endParaRPr lang="en-US" sz="132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E3C1432-8996-9284-F928-40A84D0B9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98" y="92046"/>
            <a:ext cx="8229600" cy="857250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altLang="zh-CN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Practical Pipeline</a:t>
            </a:r>
            <a:endParaRPr sz="24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CEBB76-0676-463B-B526-745255E878F3}"/>
                  </a:ext>
                </a:extLst>
              </p:cNvPr>
              <p:cNvSpPr txBox="1"/>
              <p:nvPr/>
            </p:nvSpPr>
            <p:spPr>
              <a:xfrm>
                <a:off x="359897" y="949296"/>
                <a:ext cx="8424205" cy="3421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10000"/>
                  </a:lnSpc>
                  <a:buAutoNum type="arabicPeriod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the metric: </a:t>
                </a:r>
                <a:r>
                  <a:rPr kumimoji="1"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CTR</a:t>
                </a:r>
              </a:p>
              <a:p>
                <a:pPr marL="342900" indent="-342900">
                  <a:lnSpc>
                    <a:spcPct val="110000"/>
                  </a:lnSpc>
                  <a:buAutoNum type="arabicPeriod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bin boundaries: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⋯&lt;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10000"/>
                  </a:lnSpc>
                  <a:buAutoNum type="arabicPeriod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Put observations into each bin, then we </a:t>
                </a:r>
              </a:p>
              <a:p>
                <a:pPr>
                  <a:lnSpc>
                    <a:spcPct val="110000"/>
                  </a:lnSpc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have the count vector: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endPara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10000"/>
                  </a:lnSpc>
                  <a:buFont typeface="+mj-lt"/>
                  <a:buAutoNum type="arabicPeriod" startAt="4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prior and likelihood we set, we get the two groups’ posterior:</a:t>
                </a: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~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𝐷𝑖𝑟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~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𝐷𝑖𝑟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10000"/>
                  </a:lnSpc>
                  <a:buFont typeface="+mj-lt"/>
                  <a:buAutoNum type="arabicPeriod" startAt="5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with Gamma distribution for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rounds (e.g. 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=10,000</m:t>
                    </m:r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each time it would give a </a:t>
                </a:r>
                <a:r>
                  <a:rPr kumimoji="1"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possibility vector</a:t>
                </a:r>
              </a:p>
              <a:p>
                <a:pPr marL="342900" indent="-342900">
                  <a:lnSpc>
                    <a:spcPct val="110000"/>
                  </a:lnSpc>
                  <a:buFont typeface="+mj-lt"/>
                  <a:buAutoNum type="arabicPeriod" startAt="6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bin median or bin midpoint (for empty bins) to represent </a:t>
                </a:r>
                <a:r>
                  <a:rPr kumimoji="1"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 value</a:t>
                </a:r>
              </a:p>
              <a:p>
                <a:pPr marL="342900" indent="-342900">
                  <a:lnSpc>
                    <a:spcPct val="110000"/>
                  </a:lnSpc>
                  <a:buFont typeface="+mj-lt"/>
                  <a:buAutoNum type="arabicPeriod" startAt="6"/>
                </a:pPr>
                <a:r>
                  <a:rPr lang="zh-CN" altLang="zh-CN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A/B metrics on each posterior sample.</a:t>
                </a:r>
                <a:endPara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10000"/>
                  </a:lnSpc>
                  <a:buFont typeface="+mj-lt"/>
                  <a:buAutoNum type="arabicPeriod" startAt="6"/>
                </a:pP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Aggregate the results over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samples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(calculate the mean)</a:t>
                </a: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kumimoji="1"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CEBB76-0676-463B-B526-745255E87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97" y="949296"/>
                <a:ext cx="8424205" cy="3421899"/>
              </a:xfrm>
              <a:prstGeom prst="rect">
                <a:avLst/>
              </a:prstGeom>
              <a:blipFill>
                <a:blip r:embed="rId3"/>
                <a:stretch>
                  <a:fillRect l="-452" t="-369" r="-1205" b="-1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BCF1187D-F141-30E6-D3DC-02ABA5D6AE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627"/>
          <a:stretch>
            <a:fillRect/>
          </a:stretch>
        </p:blipFill>
        <p:spPr>
          <a:xfrm>
            <a:off x="4910142" y="352727"/>
            <a:ext cx="1643058" cy="167036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6506714-B4A6-E310-A208-E80FFABDCF58}"/>
              </a:ext>
            </a:extLst>
          </p:cNvPr>
          <p:cNvSpPr txBox="1"/>
          <p:nvPr/>
        </p:nvSpPr>
        <p:spPr>
          <a:xfrm>
            <a:off x="6333700" y="710856"/>
            <a:ext cx="27536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bins:</a:t>
            </a:r>
          </a:p>
          <a:p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on metric you want to test, generally, 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bins for mean, 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bins for quantile (more sensitive).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7</a:t>
            </a:fld>
            <a:endParaRPr lang="en-US" sz="132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9E4C995-965F-679D-1CDE-DF39F442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98" y="92046"/>
            <a:ext cx="8229600" cy="857250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altLang="zh-CN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Bayesian A/B Metrics</a:t>
            </a:r>
            <a:endParaRPr sz="24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2BEFA33C-3C22-0BE5-8102-27151E503A55}"/>
              </a:ext>
            </a:extLst>
          </p:cNvPr>
          <p:cNvCxnSpPr>
            <a:cxnSpLocks/>
          </p:cNvCxnSpPr>
          <p:nvPr/>
        </p:nvCxnSpPr>
        <p:spPr>
          <a:xfrm>
            <a:off x="2548991" y="949296"/>
            <a:ext cx="0" cy="2230874"/>
          </a:xfrm>
          <a:prstGeom prst="line">
            <a:avLst/>
          </a:prstGeom>
          <a:effec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4B0F4B5-38D8-55F2-6479-E465FFB246FA}"/>
              </a:ext>
            </a:extLst>
          </p:cNvPr>
          <p:cNvCxnSpPr>
            <a:cxnSpLocks/>
          </p:cNvCxnSpPr>
          <p:nvPr/>
        </p:nvCxnSpPr>
        <p:spPr>
          <a:xfrm>
            <a:off x="5234199" y="949296"/>
            <a:ext cx="0" cy="2445674"/>
          </a:xfrm>
          <a:prstGeom prst="line">
            <a:avLst/>
          </a:prstGeom>
          <a:effec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D2D8B2D-4F82-BB5E-D52C-5D481A501358}"/>
              </a:ext>
            </a:extLst>
          </p:cNvPr>
          <p:cNvSpPr txBox="1"/>
          <p:nvPr/>
        </p:nvSpPr>
        <p:spPr>
          <a:xfrm>
            <a:off x="554502" y="9492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Chance to beat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54FD16A-E234-B64E-58DB-7E4E82AAE3E2}"/>
                  </a:ext>
                </a:extLst>
              </p:cNvPr>
              <p:cNvSpPr txBox="1"/>
              <p:nvPr/>
            </p:nvSpPr>
            <p:spPr>
              <a:xfrm>
                <a:off x="497660" y="1444428"/>
                <a:ext cx="1752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kumimoji="1" lang="zh-CN" alt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kumimoji="1"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54FD16A-E234-B64E-58DB-7E4E82AAE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60" y="1444428"/>
                <a:ext cx="1752596" cy="276999"/>
              </a:xfrm>
              <a:prstGeom prst="rect">
                <a:avLst/>
              </a:prstGeom>
              <a:blipFill>
                <a:blip r:embed="rId3"/>
                <a:stretch>
                  <a:fillRect l="-4317" r="-5036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FE9A4B42-F84A-C6EF-9DAE-56CE50E23033}"/>
              </a:ext>
            </a:extLst>
          </p:cNvPr>
          <p:cNvSpPr txBox="1"/>
          <p:nvPr/>
        </p:nvSpPr>
        <p:spPr>
          <a:xfrm>
            <a:off x="3180944" y="9492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loss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7FE485-0CBA-A151-E79E-72C6DEEC4C4B}"/>
              </a:ext>
            </a:extLst>
          </p:cNvPr>
          <p:cNvSpPr txBox="1"/>
          <p:nvPr/>
        </p:nvSpPr>
        <p:spPr>
          <a:xfrm>
            <a:off x="6174026" y="8107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Quantile difference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8A29E5C-9105-BFFE-59DB-2EC59195401E}"/>
                  </a:ext>
                </a:extLst>
              </p:cNvPr>
              <p:cNvSpPr txBox="1"/>
              <p:nvPr/>
            </p:nvSpPr>
            <p:spPr>
              <a:xfrm>
                <a:off x="2627023" y="1444427"/>
                <a:ext cx="25533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1"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1"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1"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1"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e>
                              </m:d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8A29E5C-9105-BFFE-59DB-2EC591954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23" y="1444427"/>
                <a:ext cx="2553328" cy="276999"/>
              </a:xfrm>
              <a:prstGeom prst="rect">
                <a:avLst/>
              </a:prstGeom>
              <a:blipFill>
                <a:blip r:embed="rId4"/>
                <a:stretch>
                  <a:fillRect l="-493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F210B1-C266-A66B-2A45-B2B73AFC336D}"/>
                  </a:ext>
                </a:extLst>
              </p:cNvPr>
              <p:cNvSpPr txBox="1"/>
              <p:nvPr/>
            </p:nvSpPr>
            <p:spPr>
              <a:xfrm>
                <a:off x="5392332" y="1276289"/>
                <a:ext cx="36825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kumimoji="1"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e.g.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=0.75</m:t>
                    </m:r>
                  </m:oMath>
                </a14:m>
                <a:endPara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F210B1-C266-A66B-2A45-B2B73AFC3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332" y="1276289"/>
                <a:ext cx="3682547" cy="276999"/>
              </a:xfrm>
              <a:prstGeom prst="rect">
                <a:avLst/>
              </a:prstGeom>
              <a:blipFill>
                <a:blip r:embed="rId5"/>
                <a:stretch>
                  <a:fillRect l="-2062" t="-26087" r="-1375" b="-43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>
            <a:extLst>
              <a:ext uri="{FF2B5EF4-FFF2-40B4-BE49-F238E27FC236}">
                <a16:creationId xmlns:a16="http://schemas.microsoft.com/office/drawing/2014/main" id="{E93EA0B4-CE22-F568-8251-6CE3BCF902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8048" y="1702107"/>
            <a:ext cx="3687283" cy="1500542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1A0B9368-B292-A461-57F3-727FDFCEF74E}"/>
              </a:ext>
            </a:extLst>
          </p:cNvPr>
          <p:cNvSpPr txBox="1"/>
          <p:nvPr/>
        </p:nvSpPr>
        <p:spPr>
          <a:xfrm>
            <a:off x="314432" y="1976991"/>
            <a:ext cx="25533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likely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experimental version to 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outperform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control?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C3AB312-1059-29D9-917F-830891AE72D4}"/>
              </a:ext>
            </a:extLst>
          </p:cNvPr>
          <p:cNvSpPr txBox="1"/>
          <p:nvPr/>
        </p:nvSpPr>
        <p:spPr>
          <a:xfrm>
            <a:off x="2763467" y="1976991"/>
            <a:ext cx="2312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choose the 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version, how much do we expect to 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EFAF72F-6C11-91D0-A594-714271EC89E0}"/>
              </a:ext>
            </a:extLst>
          </p:cNvPr>
          <p:cNvSpPr txBox="1"/>
          <p:nvPr/>
        </p:nvSpPr>
        <p:spPr>
          <a:xfrm>
            <a:off x="5699965" y="3176914"/>
            <a:ext cx="53690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segments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89267E6-895A-5928-3346-597ED463DCB6}"/>
              </a:ext>
            </a:extLst>
          </p:cNvPr>
          <p:cNvSpPr txBox="1"/>
          <p:nvPr/>
        </p:nvSpPr>
        <p:spPr>
          <a:xfrm>
            <a:off x="367995" y="3743946"/>
            <a:ext cx="8221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CTR, the experimental version may show an 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87% chance to beat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control, an 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loss of only 0.003 CTR points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+0.012 increase at the 75th percentile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suggests it is likely better, low-risk to launch, and especially helpful for higher-engagement users.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FFC4935-393F-43F4-195E-C26B386621F4}"/>
              </a:ext>
            </a:extLst>
          </p:cNvPr>
          <p:cNvSpPr txBox="1"/>
          <p:nvPr/>
        </p:nvSpPr>
        <p:spPr>
          <a:xfrm>
            <a:off x="359898" y="33477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Example</a:t>
            </a:r>
            <a:endParaRPr lang="zh-CN" altLang="en-US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E8AA-EFCC-C610-DEAB-D282C1CCC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2664B-65B0-2316-FB48-F669B154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8</a:t>
            </a:fld>
            <a:endParaRPr lang="en-US" sz="132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4D15FEC-679C-FD11-79C4-7863FA96E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98" y="92046"/>
            <a:ext cx="8229600" cy="857250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altLang="zh-CN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Trade-offs compared to Traditional A/B Test</a:t>
            </a:r>
            <a:endParaRPr sz="24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52495A-67B7-01BC-F589-9F521EC09CD5}"/>
              </a:ext>
            </a:extLst>
          </p:cNvPr>
          <p:cNvSpPr txBox="1"/>
          <p:nvPr/>
        </p:nvSpPr>
        <p:spPr>
          <a:xfrm>
            <a:off x="554502" y="4123477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already been adopted internally at Autotrader as the </a:t>
            </a:r>
            <a:r>
              <a:rPr lang="zh-CN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analysis method</a:t>
            </a: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5EAFFC7-4A3E-C650-A84B-3AA0ADAE0290}"/>
                  </a:ext>
                </a:extLst>
              </p:cNvPr>
              <p:cNvSpPr txBox="1"/>
              <p:nvPr/>
            </p:nvSpPr>
            <p:spPr>
              <a:xfrm>
                <a:off x="457200" y="925145"/>
                <a:ext cx="8229600" cy="3293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Compared to traditional A/B test, Bayesian A/B test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gains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decision-oriented uncertainty reporting, but </a:t>
                </a:r>
                <a:r>
                  <a:rPr lang="zh-CN" altLang="zh-CN" sz="16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pays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price of stronger modeling choices and approximation error.</a:t>
                </a:r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Concrete Limitations:</a:t>
                </a:r>
              </a:p>
              <a:p>
                <a:pPr marL="342900" indent="-342900">
                  <a:buAutoNum type="arabicPeriod"/>
                </a:pP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Binning </a:t>
                </a:r>
                <a:r>
                  <a:rPr lang="zh-CN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loses continuous information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0.401, 0.499, 0.599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Discretization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may 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treat them as the same.</a:t>
                </a:r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etter suited for </a:t>
                </a:r>
                <a:r>
                  <a:rPr lang="zh-CN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bounded metrics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F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unbounded and long-tailed variables such as revenue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you need to decide:</a:t>
                </a:r>
              </a:p>
              <a:p>
                <a:pPr marL="742950" lvl="1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the maximum bin should be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zh-CN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to handle extreme values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etc.</a:t>
                </a:r>
                <a:endParaRPr lang="zh-CN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 startAt="3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ess suitable for </a:t>
                </a:r>
                <a:r>
                  <a:rPr lang="zh-CN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sparse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rare-event data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bins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osterior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supported mainly by the prior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esults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</a:t>
                </a:r>
                <a:r>
                  <a:rPr lang="zh-CN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stable</a:t>
                </a:r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5EAFFC7-4A3E-C650-A84B-3AA0ADAE0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25145"/>
                <a:ext cx="8229600" cy="3293209"/>
              </a:xfrm>
              <a:prstGeom prst="rect">
                <a:avLst/>
              </a:prstGeom>
              <a:blipFill>
                <a:blip r:embed="rId3"/>
                <a:stretch>
                  <a:fillRect l="-463" t="-383" r="-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362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9BF88-C7DF-1F22-1B56-C78FCB58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C6250-F3F8-F271-7409-B909ADE17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502" y="949295"/>
            <a:ext cx="7827108" cy="263096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proposes a scalable Bayesian A/B testing method for messy industry metrics.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discretizing continuous outcomes into bins and placing a Dirichlet prior on the bin probabilities, it avoids hand-designing a new Bayesian model for every experiment.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is practical because it produces decision-oriented outputs such as chance to beat, expected loss, and quantile differences.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main trade-off is that binning makes the analysis simple and scalable, but introduces approximation error and depends on bin choices.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53272-C054-FF26-F907-63808BEA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9</a:t>
            </a:fld>
            <a:endParaRPr lang="en-US" sz="132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57AD71-3ADE-78B3-9357-A5120B692B2D}"/>
              </a:ext>
            </a:extLst>
          </p:cNvPr>
          <p:cNvSpPr txBox="1">
            <a:spLocks/>
          </p:cNvSpPr>
          <p:nvPr/>
        </p:nvSpPr>
        <p:spPr>
          <a:xfrm>
            <a:off x="359898" y="92046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Key Takeaways</a:t>
            </a:r>
            <a:endParaRPr lang="en-US" sz="24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32433C-8D5C-E105-7919-AF36DB09E25E}"/>
              </a:ext>
            </a:extLst>
          </p:cNvPr>
          <p:cNvSpPr txBox="1">
            <a:spLocks/>
          </p:cNvSpPr>
          <p:nvPr/>
        </p:nvSpPr>
        <p:spPr>
          <a:xfrm>
            <a:off x="353256" y="3237703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Thanks!</a:t>
            </a:r>
            <a:endParaRPr lang="en-US" sz="24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757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2928</TotalTime>
  <Words>981</Words>
  <Application>Microsoft Macintosh PowerPoint</Application>
  <PresentationFormat>全屏显示(16:9)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Times New Roman</vt:lpstr>
      <vt:lpstr>Office Theme</vt:lpstr>
      <vt:lpstr>Straightforward Bayesian A/B Testing
with Dirichlet Posteriors </vt:lpstr>
      <vt:lpstr>A/B Test: Useful in Industry Setting</vt:lpstr>
      <vt:lpstr>Bayesian A/B Test: Adds Information</vt:lpstr>
      <vt:lpstr>After binning: Dirichlet Prior &amp; Multinomial Likelihood </vt:lpstr>
      <vt:lpstr>Details about Dirichlet Distribution</vt:lpstr>
      <vt:lpstr>Details about Dirichlet Distribution</vt:lpstr>
      <vt:lpstr>Practical Pipeline</vt:lpstr>
      <vt:lpstr>Bayesian A/B Metrics</vt:lpstr>
      <vt:lpstr>Trade-offs compared to Traditional A/B Test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99</TotalTime>
  <Words>3</Words>
  <Application>Microsoft Macintosh PowerPoint</Application>
  <PresentationFormat>On-screen Show (16:9)</PresentationFormat>
  <Paragraphs>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Cover Page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HW3 Recommender Systems</dc:title>
  <dc:creator>Junwei Li</dc:creator>
  <cp:keywords/>
  <cp:lastModifiedBy>2110393816@qq.com</cp:lastModifiedBy>
  <cp:revision>30</cp:revision>
  <dcterms:created xsi:type="dcterms:W3CDTF">2026-05-12T18:05:43Z</dcterms:created>
  <dcterms:modified xsi:type="dcterms:W3CDTF">2026-06-02T16:17:30Z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Sparse Ratings to Calibrated Hybrid Recommender</vt:lpwstr>
  </property>
</Properties>
</file>