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1"/>
    <p:restoredTop sz="96170" autoAdjust="0"/>
  </p:normalViewPr>
  <p:slideViewPr>
    <p:cSldViewPr snapToGrid="0" snapToObjects="1">
      <p:cViewPr>
        <p:scale>
          <a:sx n="163" d="100"/>
          <a:sy n="163" d="100"/>
        </p:scale>
        <p:origin x="48" y="1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93" d="100"/>
          <a:sy n="93" d="100"/>
        </p:scale>
        <p:origin x="3904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E82BA9-193E-D440-8A2C-9653656F2AE3}" type="datetimeFigureOut">
              <a:rPr lang="en-US" smtClean="0"/>
              <a:t>5/13/26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63C63D-0C1A-0E4C-A0BD-8D65A95424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7056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3C63D-0C1A-0E4C-A0BD-8D65A9542426}" type="slidenum">
              <a:rPr lang="en-US" smtClean="0"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556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63C63D-0C1A-0E4C-A0BD-8D65A9542426}" type="slidenum">
              <a:rPr lang="en-US"/>
              <a:t>1</a:t>
            </a:fld>
            <a:endParaRPr lang="en-US"/>
          </a:p>
        </p:txBody>
      </p:sp>
      <p:sp>
        <p:nvSpPr>
          <p:cNvPr id="6" name="备注占位符 5">
            <a:extLst>
              <a:ext uri="{FF2B5EF4-FFF2-40B4-BE49-F238E27FC236}">
                <a16:creationId xmlns:a16="http://schemas.microsoft.com/office/drawing/2014/main" id="{0783E5B2-1D8D-489C-3B92-04CF2C8C93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63C63D-0C1A-0E4C-A0BD-8D65A9542426}" type="slidenum">
              <a:rPr lang="en-US"/>
              <a:t>2</a:t>
            </a:fld>
            <a:endParaRPr lang="en-US"/>
          </a:p>
        </p:txBody>
      </p:sp>
      <p:sp>
        <p:nvSpPr>
          <p:cNvPr id="6" name="备注占位符 5">
            <a:extLst>
              <a:ext uri="{FF2B5EF4-FFF2-40B4-BE49-F238E27FC236}">
                <a16:creationId xmlns:a16="http://schemas.microsoft.com/office/drawing/2014/main" id="{EE3AC06E-3F52-9419-751E-396E61B23B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63C63D-0C1A-0E4C-A0BD-8D65A9542426}" type="slidenum">
              <a:rPr lang="en-US"/>
              <a:t>3</a:t>
            </a:fld>
            <a:endParaRPr lang="en-US"/>
          </a:p>
        </p:txBody>
      </p:sp>
      <p:sp>
        <p:nvSpPr>
          <p:cNvPr id="6" name="备注占位符 5">
            <a:extLst>
              <a:ext uri="{FF2B5EF4-FFF2-40B4-BE49-F238E27FC236}">
                <a16:creationId xmlns:a16="http://schemas.microsoft.com/office/drawing/2014/main" id="{7D99ECB0-9CE4-FDC3-05EA-D944F738BE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63C63D-0C1A-0E4C-A0BD-8D65A9542426}" type="slidenum">
              <a:rPr lang="en-US"/>
              <a:t>4</a:t>
            </a:fld>
            <a:endParaRPr lang="en-US"/>
          </a:p>
        </p:txBody>
      </p:sp>
      <p:sp>
        <p:nvSpPr>
          <p:cNvPr id="6" name="备注占位符 5">
            <a:extLst>
              <a:ext uri="{FF2B5EF4-FFF2-40B4-BE49-F238E27FC236}">
                <a16:creationId xmlns:a16="http://schemas.microsoft.com/office/drawing/2014/main" id="{2128C396-C504-696D-4BCB-0A3EB5638E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63C63D-0C1A-0E4C-A0BD-8D65A9542426}" type="slidenum">
              <a:rPr lang="en-US"/>
              <a:t>5</a:t>
            </a:fld>
            <a:endParaRPr lang="en-US"/>
          </a:p>
        </p:txBody>
      </p:sp>
      <p:sp>
        <p:nvSpPr>
          <p:cNvPr id="6" name="备注占位符 5">
            <a:extLst>
              <a:ext uri="{FF2B5EF4-FFF2-40B4-BE49-F238E27FC236}">
                <a16:creationId xmlns:a16="http://schemas.microsoft.com/office/drawing/2014/main" id="{6DA69016-28A1-AD26-96FC-ED1450416C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63C63D-0C1A-0E4C-A0BD-8D65A9542426}" type="slidenum">
              <a:rPr lang="en-US"/>
              <a:t>6</a:t>
            </a:fld>
            <a:endParaRPr lang="en-US"/>
          </a:p>
        </p:txBody>
      </p:sp>
      <p:sp>
        <p:nvSpPr>
          <p:cNvPr id="6" name="备注占位符 5">
            <a:extLst>
              <a:ext uri="{FF2B5EF4-FFF2-40B4-BE49-F238E27FC236}">
                <a16:creationId xmlns:a16="http://schemas.microsoft.com/office/drawing/2014/main" id="{AEA71EDD-0103-9E87-041B-F91400A360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3C63D-0C1A-0E4C-A0BD-8D65A954242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615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tor Pag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1542060"/>
            <a:ext cx="9144000" cy="2054160"/>
          </a:xfrm>
        </p:spPr>
        <p:txBody>
          <a:bodyPr/>
          <a:lstStyle>
            <a:lvl1pPr algn="ctr">
              <a:defRPr>
                <a:solidFill>
                  <a:srgbClr val="404040"/>
                </a:solidFill>
                <a:latin typeface="Arial"/>
              </a:defRPr>
            </a:lvl1pPr>
          </a:lstStyle>
          <a:p>
            <a:r>
              <a:rPr lang="en-US" dirty="0"/>
              <a:t>Separator </a:t>
            </a:r>
          </a:p>
        </p:txBody>
      </p:sp>
      <p:pic>
        <p:nvPicPr>
          <p:cNvPr id="3" name="Picture 2" descr="NWU PPT Wide Opt 4_Separator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773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D3421027-4EC0-9C48-8CFB-B8A3104CB056}" type="datetime1">
              <a:rPr lang="en-US" smtClean="0"/>
              <a:pPr/>
              <a:t>5/13/26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200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FA5DAB8B-8178-D047-869E-5A62AF236443}" type="datetime1">
              <a:rPr lang="en-US" smtClean="0"/>
              <a:t>5/13/26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408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  <a:lvl2pPr>
              <a:defRPr>
                <a:latin typeface="Arial"/>
              </a:defRPr>
            </a:lvl2pPr>
            <a:lvl3pPr>
              <a:defRPr>
                <a:latin typeface="Arial"/>
              </a:defRPr>
            </a:lvl3pPr>
            <a:lvl4pPr>
              <a:defRPr>
                <a:latin typeface="Arial"/>
              </a:defRPr>
            </a:lvl4pPr>
            <a:lvl5pPr>
              <a:defRPr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B9AB8213-A564-3C44-8CA0-968996562138}" type="datetime1">
              <a:rPr lang="en-US" smtClean="0"/>
              <a:pPr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566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>
            <a:normAutofit/>
          </a:bodyPr>
          <a:lstStyle>
            <a:lvl1pPr algn="l">
              <a:defRPr sz="3200" b="1" cap="all"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0A83DA12-03A5-114A-ABAE-78CD6BB6AC19}" type="datetime1">
              <a:rPr lang="en-US" smtClean="0"/>
              <a:pPr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636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>
                <a:latin typeface="Arial"/>
              </a:defRPr>
            </a:lvl1pPr>
            <a:lvl2pPr>
              <a:defRPr sz="2400">
                <a:latin typeface="Arial"/>
              </a:defRPr>
            </a:lvl2pPr>
            <a:lvl3pPr>
              <a:defRPr sz="2000">
                <a:latin typeface="Arial"/>
              </a:defRPr>
            </a:lvl3pPr>
            <a:lvl4pPr>
              <a:defRPr sz="1800">
                <a:latin typeface="Arial"/>
              </a:defRPr>
            </a:lvl4pPr>
            <a:lvl5pPr>
              <a:defRPr sz="1800">
                <a:latin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>
                <a:latin typeface="Arial"/>
              </a:defRPr>
            </a:lvl1pPr>
            <a:lvl2pPr>
              <a:defRPr sz="2400">
                <a:latin typeface="Arial"/>
              </a:defRPr>
            </a:lvl2pPr>
            <a:lvl3pPr>
              <a:defRPr sz="2000">
                <a:latin typeface="Arial"/>
              </a:defRPr>
            </a:lvl3pPr>
            <a:lvl4pPr>
              <a:defRPr sz="1800">
                <a:latin typeface="Arial"/>
              </a:defRPr>
            </a:lvl4pPr>
            <a:lvl5pPr>
              <a:defRPr sz="1800">
                <a:latin typeface="Arial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FFF386F-14E4-954A-9EC2-E277FFD66D49}" type="datetime1">
              <a:rPr lang="en-US" smtClean="0"/>
              <a:pPr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727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>
                <a:latin typeface="Arial"/>
              </a:defRPr>
            </a:lvl1pPr>
            <a:lvl2pPr>
              <a:defRPr sz="2000">
                <a:latin typeface="Arial"/>
              </a:defRPr>
            </a:lvl2pPr>
            <a:lvl3pPr>
              <a:defRPr sz="1800">
                <a:latin typeface="Arial"/>
              </a:defRPr>
            </a:lvl3pPr>
            <a:lvl4pPr>
              <a:defRPr sz="1600">
                <a:latin typeface="Arial"/>
              </a:defRPr>
            </a:lvl4pPr>
            <a:lvl5pPr>
              <a:defRPr sz="1600">
                <a:latin typeface="Arial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>
                <a:latin typeface="Arial"/>
              </a:defRPr>
            </a:lvl1pPr>
            <a:lvl2pPr>
              <a:defRPr sz="2000">
                <a:latin typeface="Arial"/>
              </a:defRPr>
            </a:lvl2pPr>
            <a:lvl3pPr>
              <a:defRPr sz="1800">
                <a:latin typeface="Arial"/>
              </a:defRPr>
            </a:lvl3pPr>
            <a:lvl4pPr>
              <a:defRPr sz="1600">
                <a:latin typeface="Arial"/>
              </a:defRPr>
            </a:lvl4pPr>
            <a:lvl5pPr>
              <a:defRPr sz="1600">
                <a:latin typeface="Arial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D8FFCF06-3344-8345-BEA6-DDAEFCC6ECCE}" type="datetime1">
              <a:rPr lang="en-US" smtClean="0"/>
              <a:pPr/>
              <a:t>5/13/26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770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84C6D879-35D4-554E-9D6D-93E8130AA922}" type="datetime1">
              <a:rPr lang="en-US" smtClean="0"/>
              <a:pPr/>
              <a:t>5/13/26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20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>
                <a:latin typeface="Arial"/>
              </a:defRPr>
            </a:lvl1pPr>
            <a:lvl2pPr>
              <a:defRPr sz="2800">
                <a:latin typeface="Arial"/>
              </a:defRPr>
            </a:lvl2pPr>
            <a:lvl3pPr>
              <a:defRPr sz="2400">
                <a:latin typeface="Arial"/>
              </a:defRPr>
            </a:lvl3pPr>
            <a:lvl4pPr>
              <a:defRPr sz="2000">
                <a:latin typeface="Arial"/>
              </a:defRPr>
            </a:lvl4pPr>
            <a:lvl5pPr>
              <a:defRPr sz="2000">
                <a:latin typeface="Arial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>
                <a:latin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AB182AE3-760A-8E44-AB65-03A533386DFC}" type="datetime1">
              <a:rPr lang="en-US" smtClean="0"/>
              <a:pPr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246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>
                <a:latin typeface="Arial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>
                <a:latin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B362BA78-8688-C546-A03A-2A39F84C0B58}" type="datetime1">
              <a:rPr lang="en-US" smtClean="0"/>
              <a:pPr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278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Arial"/>
              </a:defRPr>
            </a:lvl1pPr>
            <a:lvl2pPr>
              <a:defRPr>
                <a:latin typeface="Arial"/>
              </a:defRPr>
            </a:lvl2pPr>
            <a:lvl3pPr>
              <a:defRPr>
                <a:latin typeface="Arial"/>
              </a:defRPr>
            </a:lvl3pPr>
            <a:lvl4pPr>
              <a:defRPr>
                <a:latin typeface="Arial"/>
              </a:defRPr>
            </a:lvl4pPr>
            <a:lvl5pPr>
              <a:defRPr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EF5B9135-15EF-DE46-84CC-16626B0FAF7F}" type="datetime1">
              <a:rPr lang="en-US" smtClean="0"/>
              <a:pPr/>
              <a:t>5/13/26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3136197" y="-30456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0293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>
            <a:lvl1pPr>
              <a:defRPr>
                <a:latin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>
            <a:lvl1pPr>
              <a:defRPr>
                <a:latin typeface="Arial"/>
              </a:defRPr>
            </a:lvl1pPr>
            <a:lvl2pPr>
              <a:defRPr>
                <a:latin typeface="Arial"/>
              </a:defRPr>
            </a:lvl2pPr>
            <a:lvl3pPr>
              <a:defRPr>
                <a:latin typeface="Arial"/>
              </a:defRPr>
            </a:lvl3pPr>
            <a:lvl4pPr>
              <a:defRPr>
                <a:latin typeface="Arial"/>
              </a:defRPr>
            </a:lvl4pPr>
            <a:lvl5pPr>
              <a:defRPr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77ADD-011F-3541-9724-9C7FC92455D5}" type="datetime1">
              <a:rPr lang="en-US" smtClean="0"/>
              <a:t>5/13/26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232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C176C-065F-124D-AAA4-94F2B7A2EC7C}" type="datetime1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FFFFFF"/>
                </a:solidFill>
                <a:latin typeface="Arial"/>
                <a:cs typeface="Arial"/>
              </a:defRPr>
            </a:lvl1pPr>
          </a:lstStyle>
          <a:p>
            <a:fld id="{106E12CD-FCB1-464E-A775-0B83FDDACE0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NWU PPT Wide Opt 4_Master.jp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96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5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24282"/>
            <a:ext cx="7772400" cy="1102519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3200" b="1" dirty="0">
                <a:solidFill>
                  <a:srgbClr val="3A1C5C"/>
                </a:solidFill>
                <a:latin typeface="Times New Roman"/>
                <a:ea typeface="+mn-ea"/>
                <a:cs typeface="+mn-cs"/>
              </a:rPr>
              <a:t>HW3 Recommender Systems</a:t>
            </a:r>
            <a:r>
              <a:rPr lang="en-US" sz="3200" b="1" dirty="0">
                <a:solidFill>
                  <a:srgbClr val="3A1C5C"/>
                </a:solidFill>
                <a:latin typeface="Times New Roman"/>
                <a:ea typeface="+mn-ea"/>
                <a:cs typeface="+mn-cs"/>
              </a:rPr>
              <a:t>: Part 2 - Presentation</a:t>
            </a:r>
            <a:endParaRPr sz="3200" b="1" dirty="0">
              <a:solidFill>
                <a:srgbClr val="3A1C5C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41112"/>
            <a:ext cx="6400800" cy="1314450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Sparse Ratings to Hybrid Recommendations: </a:t>
            </a:r>
          </a:p>
          <a:p>
            <a:pPr lvl="0"/>
            <a:r>
              <a:rPr lang="e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Combining Bias, Latent Structure, and Feature Signals</a:t>
            </a:r>
            <a:br>
              <a:rPr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Junwei 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415" y="160631"/>
            <a:ext cx="4943231" cy="857250"/>
          </a:xfrm>
        </p:spPr>
        <p:txBody>
          <a:bodyPr/>
          <a:lstStyle/>
          <a:p>
            <a:pPr marL="0" lvl="0" indent="0">
              <a:buNone/>
            </a:pPr>
            <a:r>
              <a:rPr sz="2900" b="1" dirty="0">
                <a:solidFill>
                  <a:srgbClr val="3A1C5C"/>
                </a:solidFill>
                <a:latin typeface="Times New Roman"/>
                <a:ea typeface="+mn-ea"/>
                <a:cs typeface="+mn-cs"/>
              </a:rPr>
              <a:t>Data Geometry and Cleaning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42277" y="960780"/>
                <a:ext cx="4943231" cy="3394472"/>
              </a:xfrm>
            </p:spPr>
            <p:txBody>
              <a:bodyPr>
                <a:noAutofit/>
              </a:bodyPr>
              <a:lstStyle/>
              <a:p>
                <a:pPr marL="0" lv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ar-AE" sz="1400" b="1" i="1" smtClean="0">
                        <a:latin typeface="Cambria Math" panose="02040503050406030204" pitchFamily="18" charset="0"/>
                      </a:rPr>
                      <m:t>𝐑</m:t>
                    </m:r>
                    <m:r>
                      <a:rPr lang="ar-AE" sz="1400" b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sz="1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400" b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ar-AE" sz="1400" b="1" i="1">
                            <a:latin typeface="Cambria Math" panose="02040503050406030204" pitchFamily="18" charset="0"/>
                          </a:rPr>
                          <m:t>𝟏𝟎𝟖𝟗</m:t>
                        </m:r>
                        <m:r>
                          <a:rPr lang="ar-AE" sz="1400" b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 sz="1400" b="1" i="1">
                            <a:latin typeface="Cambria Math" panose="02040503050406030204" pitchFamily="18" charset="0"/>
                          </a:rPr>
                          <m:t>𝟕</m:t>
                        </m:r>
                        <m: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ar-AE" sz="1400" b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altLang="zh-CN" sz="1400" b="1" i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density</m:t>
                    </m:r>
                    <m:r>
                      <a:rPr lang="en" sz="1400" b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" sz="14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" sz="1400" b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" sz="1400" b="1" i="1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altLang="zh-CN" sz="1400" b="1" i="0" smtClean="0">
                        <a:latin typeface="Cambria Math" panose="02040503050406030204" pitchFamily="18" charset="0"/>
                      </a:rPr>
                      <m:t>𝟕</m:t>
                    </m:r>
                    <m:r>
                      <a:rPr lang="en" sz="1400" b="1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zh-CN" alt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:r>
                  <a:rPr lang="en-US" altLang="zh-CN" sz="14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very sparse</a:t>
                </a:r>
                <a:endParaRPr lang="en" sz="14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Aggregate by user: </a:t>
                </a:r>
              </a:p>
              <a:p>
                <a:r>
                  <a:rPr lang="en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Numeric features by user-level medians</a:t>
                </a:r>
              </a:p>
              <a:p>
                <a:r>
                  <a:rPr lang="en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Categorical features by user-level modes</a:t>
                </a:r>
              </a:p>
              <a:p>
                <a:pPr marL="0" indent="0">
                  <a:buNone/>
                </a:pPr>
                <a:r>
                  <a:rPr lang="e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Missing</a:t>
                </a:r>
                <a:r>
                  <a:rPr lang="zh-CN" alt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values:</a:t>
                </a:r>
              </a:p>
              <a:p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Typical </a:t>
                </a:r>
                <a:r>
                  <a:rPr lang="en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imputation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umeric median, Categorical mode </a:t>
                </a:r>
              </a:p>
              <a:p>
                <a:r>
                  <a:rPr lang="en" altLang="zh-CN" sz="1400" dirty="0">
                    <a:highlight>
                      <a:srgbClr val="C0C0C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`Vegetarian?` </a:t>
                </a:r>
                <a:r>
                  <a:rPr lang="en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(95.5% missing) is treated as a third category `Unknown`</a:t>
                </a:r>
              </a:p>
              <a:p>
                <a:r>
                  <a:rPr lang="en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" altLang="zh-CN" sz="1400" dirty="0">
                    <a:highlight>
                      <a:srgbClr val="C0C0C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`Weight (</a:t>
                </a:r>
                <a:r>
                  <a:rPr lang="en" altLang="zh-CN" sz="1400" dirty="0" err="1">
                    <a:highlight>
                      <a:srgbClr val="C0C0C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lb</a:t>
                </a:r>
                <a:r>
                  <a:rPr lang="en" altLang="zh-CN" sz="1400" dirty="0">
                    <a:highlight>
                      <a:srgbClr val="C0C0C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)` </a:t>
                </a:r>
                <a:r>
                  <a:rPr lang="en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(2.0% missing) receives a binary indicator, since 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data </a:t>
                </a:r>
                <a:r>
                  <a:rPr lang="en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suggesting potentially</a:t>
                </a:r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MNAR</a:t>
                </a:r>
                <a:r>
                  <a:rPr lang="en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Further we get the </a:t>
                </a:r>
                <a:r>
                  <a:rPr lang="e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training and test set:</a:t>
                </a:r>
                <a:endParaRPr 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" sz="140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40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" sz="1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train</m:t>
                          </m:r>
                        </m:sub>
                      </m:sSub>
                      <m:r>
                        <a:rPr lang="ar-AE" sz="1400">
                          <a:latin typeface="Cambria Math" panose="02040503050406030204" pitchFamily="18" charset="0"/>
                        </a:rPr>
                        <m:t>|=1276,  |</m:t>
                      </m:r>
                      <m:sSub>
                        <m:sSubPr>
                          <m:ctrlPr>
                            <a:rPr lang="ar-AE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400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" sz="1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test</m:t>
                          </m:r>
                        </m:sub>
                      </m:sSub>
                      <m:r>
                        <a:rPr lang="ar-AE" sz="1400">
                          <a:latin typeface="Cambria Math" panose="02040503050406030204" pitchFamily="18" charset="0"/>
                        </a:rPr>
                        <m:t>|=193.</m:t>
                      </m:r>
                    </m:oMath>
                  </m:oMathPara>
                </a14:m>
                <a:endParaRPr lang="ar-AE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2277" y="960780"/>
                <a:ext cx="4943231" cy="3394472"/>
              </a:xfrm>
              <a:blipFill>
                <a:blip r:embed="rId3"/>
                <a:stretch>
                  <a:fillRect l="-513" b="-18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z="1320" smtClean="0"/>
              <a:pPr/>
              <a:t>1</a:t>
            </a:fld>
            <a:endParaRPr lang="en-US" sz="132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E37DE82-6315-7F3D-6788-C36F1D44093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346"/>
          <a:stretch>
            <a:fillRect/>
          </a:stretch>
        </p:blipFill>
        <p:spPr>
          <a:xfrm>
            <a:off x="4977912" y="1027510"/>
            <a:ext cx="4166088" cy="352673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759006F-F280-14AA-6CEC-84AC84AD7694}"/>
              </a:ext>
            </a:extLst>
          </p:cNvPr>
          <p:cNvSpPr txBox="1"/>
          <p:nvPr/>
        </p:nvSpPr>
        <p:spPr>
          <a:xfrm>
            <a:off x="7474945" y="3977490"/>
            <a:ext cx="1156771" cy="2616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zh-CN" sz="550" dirty="0"/>
              <a:t>                                1.87%</a:t>
            </a:r>
            <a:r>
              <a:rPr kumimoji="1" lang="zh-CN" altLang="en-US" sz="550" dirty="0"/>
              <a:t> </a:t>
            </a:r>
            <a:r>
              <a:rPr kumimoji="1" lang="en-US" altLang="zh-CN" sz="550" dirty="0"/>
              <a:t>observed</a:t>
            </a:r>
          </a:p>
          <a:p>
            <a:r>
              <a:rPr kumimoji="1" lang="en-US" altLang="zh-CN" sz="550" dirty="0"/>
              <a:t>                                 98.13% missing</a:t>
            </a:r>
            <a:endParaRPr kumimoji="1" lang="zh-CN" altLang="en-US" sz="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l">
              <a:buNone/>
            </a:pPr>
            <a:r>
              <a:rPr sz="2900" b="1" dirty="0">
                <a:solidFill>
                  <a:srgbClr val="3A1C5C"/>
                </a:solidFill>
                <a:latin typeface="Times New Roman"/>
                <a:ea typeface="+mn-ea"/>
                <a:cs typeface="+mn-cs"/>
              </a:rPr>
              <a:t>Q1-Q6: Baseline Logic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z="1320" smtClean="0"/>
              <a:pPr/>
              <a:t>2</a:t>
            </a:fld>
            <a:endParaRPr lang="en-US" sz="1320"/>
          </a:p>
        </p:txBody>
      </p:sp>
      <p:sp>
        <p:nvSpPr>
          <p:cNvPr id="4" name="Rounded Rectangle 8">
            <a:extLst>
              <a:ext uri="{FF2B5EF4-FFF2-40B4-BE49-F238E27FC236}">
                <a16:creationId xmlns:a16="http://schemas.microsoft.com/office/drawing/2014/main" id="{E258D8DB-13D8-E61F-2135-9A8FE637EE2D}"/>
              </a:ext>
            </a:extLst>
          </p:cNvPr>
          <p:cNvSpPr/>
          <p:nvPr/>
        </p:nvSpPr>
        <p:spPr>
          <a:xfrm>
            <a:off x="1275588" y="1448602"/>
            <a:ext cx="2020824" cy="640078"/>
          </a:xfrm>
          <a:prstGeom prst="roundRect">
            <a:avLst/>
          </a:prstGeom>
          <a:solidFill>
            <a:srgbClr val="F6F2FA"/>
          </a:solidFill>
          <a:ln w="13970">
            <a:solidFill>
              <a:srgbClr val="542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84A826BC-77D9-2B4E-B768-F233F426464F}"/>
              </a:ext>
            </a:extLst>
          </p:cNvPr>
          <p:cNvSpPr txBox="1"/>
          <p:nvPr/>
        </p:nvSpPr>
        <p:spPr>
          <a:xfrm>
            <a:off x="1275588" y="1514522"/>
            <a:ext cx="2020824" cy="52937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0">
                <a:solidFill>
                  <a:srgbClr val="262626"/>
                </a:solidFill>
                <a:latin typeface="Times New Roman"/>
              </a:defRPr>
            </a:pPr>
            <a:r>
              <a:rPr lang="en" altLang="zh-CN" sz="1600" b="1" dirty="0">
                <a:solidFill>
                  <a:srgbClr val="542A84"/>
                </a:solidFill>
                <a:latin typeface="Times New Roman"/>
              </a:rPr>
              <a:t>Similarity from known user features</a:t>
            </a:r>
          </a:p>
        </p:txBody>
      </p:sp>
      <p:sp>
        <p:nvSpPr>
          <p:cNvPr id="7" name="Rounded Rectangle 11">
            <a:extLst>
              <a:ext uri="{FF2B5EF4-FFF2-40B4-BE49-F238E27FC236}">
                <a16:creationId xmlns:a16="http://schemas.microsoft.com/office/drawing/2014/main" id="{3D9F29C7-039B-E536-2562-059EE968F9AD}"/>
              </a:ext>
            </a:extLst>
          </p:cNvPr>
          <p:cNvSpPr/>
          <p:nvPr/>
        </p:nvSpPr>
        <p:spPr>
          <a:xfrm>
            <a:off x="4048799" y="1436472"/>
            <a:ext cx="1378165" cy="640078"/>
          </a:xfrm>
          <a:prstGeom prst="roundRect">
            <a:avLst/>
          </a:prstGeom>
          <a:solidFill>
            <a:srgbClr val="F6F2FA"/>
          </a:solidFill>
          <a:ln w="13970">
            <a:solidFill>
              <a:srgbClr val="542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7E686DCB-E1FE-4845-6B40-6EFF1C8F5928}"/>
              </a:ext>
            </a:extLst>
          </p:cNvPr>
          <p:cNvSpPr txBox="1"/>
          <p:nvPr/>
        </p:nvSpPr>
        <p:spPr>
          <a:xfrm>
            <a:off x="4158527" y="1600591"/>
            <a:ext cx="2020824" cy="28315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defRPr sz="1300" b="0">
                <a:solidFill>
                  <a:srgbClr val="262626"/>
                </a:solidFill>
                <a:latin typeface="Times New Roman"/>
              </a:defRPr>
            </a:pPr>
            <a:r>
              <a:rPr lang="en" altLang="zh-CN" sz="1600" b="1" dirty="0">
                <a:solidFill>
                  <a:srgbClr val="542A84"/>
                </a:solidFill>
                <a:latin typeface="Times New Roman"/>
              </a:rPr>
              <a:t>Bias baseline</a:t>
            </a:r>
            <a:endParaRPr sz="1600" b="1" dirty="0">
              <a:solidFill>
                <a:srgbClr val="542A84"/>
              </a:solidFill>
              <a:latin typeface="Times New Roman"/>
            </a:endParaRPr>
          </a:p>
        </p:txBody>
      </p:sp>
      <p:sp>
        <p:nvSpPr>
          <p:cNvPr id="9" name="Rounded Rectangle 14">
            <a:extLst>
              <a:ext uri="{FF2B5EF4-FFF2-40B4-BE49-F238E27FC236}">
                <a16:creationId xmlns:a16="http://schemas.microsoft.com/office/drawing/2014/main" id="{8976877D-10F4-88DD-FD81-816CF2133604}"/>
              </a:ext>
            </a:extLst>
          </p:cNvPr>
          <p:cNvSpPr/>
          <p:nvPr/>
        </p:nvSpPr>
        <p:spPr>
          <a:xfrm>
            <a:off x="6304790" y="1448607"/>
            <a:ext cx="1736309" cy="640078"/>
          </a:xfrm>
          <a:prstGeom prst="roundRect">
            <a:avLst/>
          </a:prstGeom>
          <a:solidFill>
            <a:srgbClr val="F6F2FA"/>
          </a:solidFill>
          <a:ln w="13970">
            <a:solidFill>
              <a:srgbClr val="542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16">
            <a:extLst>
              <a:ext uri="{FF2B5EF4-FFF2-40B4-BE49-F238E27FC236}">
                <a16:creationId xmlns:a16="http://schemas.microsoft.com/office/drawing/2014/main" id="{D40BE2DF-5695-CC5D-CFCC-57149F7C292A}"/>
              </a:ext>
            </a:extLst>
          </p:cNvPr>
          <p:cNvSpPr txBox="1"/>
          <p:nvPr/>
        </p:nvSpPr>
        <p:spPr>
          <a:xfrm>
            <a:off x="6162532" y="1514522"/>
            <a:ext cx="2020824" cy="52937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0">
                <a:solidFill>
                  <a:srgbClr val="262626"/>
                </a:solidFill>
                <a:latin typeface="Times New Roman"/>
              </a:defRPr>
            </a:pPr>
            <a:r>
              <a:rPr lang="en" altLang="zh-CN" sz="1600" b="1" dirty="0">
                <a:solidFill>
                  <a:srgbClr val="542A84"/>
                </a:solidFill>
                <a:latin typeface="Times New Roman"/>
              </a:rPr>
              <a:t>SVD</a:t>
            </a:r>
            <a:r>
              <a:rPr lang="zh-CN" altLang="en-US" sz="1600" b="1" dirty="0">
                <a:solidFill>
                  <a:srgbClr val="542A84"/>
                </a:solidFill>
                <a:latin typeface="Times New Roman"/>
              </a:rPr>
              <a:t> </a:t>
            </a:r>
            <a:r>
              <a:rPr lang="en" altLang="zh-CN" sz="1600" b="1" dirty="0">
                <a:solidFill>
                  <a:srgbClr val="542A84"/>
                </a:solidFill>
                <a:latin typeface="Times New Roman"/>
              </a:rPr>
              <a:t>after bias imputation</a:t>
            </a:r>
            <a:endParaRPr sz="1600" b="1" dirty="0">
              <a:solidFill>
                <a:srgbClr val="542A84"/>
              </a:solidFill>
              <a:latin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E798350-106B-5D90-300C-370F5D5C0C04}"/>
                  </a:ext>
                </a:extLst>
              </p:cNvPr>
              <p:cNvSpPr txBox="1"/>
              <p:nvPr/>
            </p:nvSpPr>
            <p:spPr>
              <a:xfrm>
                <a:off x="0" y="2575856"/>
                <a:ext cx="4572000" cy="3734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ar-AE" altLang="zh-CN" sz="1600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ar-AE" altLang="zh-CN" sz="160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ar-AE" altLang="zh-CN" sz="160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ar-AE" altLang="zh-CN" sz="1600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ar-AE" altLang="zh-CN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altLang="zh-CN" sz="160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ar-AE" altLang="zh-CN" sz="160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ar-AE" altLang="zh-CN" sz="160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ar-AE" altLang="zh-CN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∥"/>
                              <m:endChr m:val="∥"/>
                              <m:ctrlPr>
                                <a:rPr lang="ar-AE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altLang="zh-CN" sz="160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ar-AE" altLang="zh-CN" sz="16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ar-AE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altLang="zh-CN" sz="1600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lang="ar-AE" altLang="zh-CN" sz="160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ar-AE" altLang="zh-CN" sz="1600"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r>
                                <a:rPr lang="ar-AE" altLang="zh-CN" sz="160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ar-AE" altLang="zh-CN" sz="16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ar-AE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altLang="zh-CN" sz="1600">
                                      <a:latin typeface="Cambria Math" panose="02040503050406030204" pitchFamily="18" charset="0"/>
                                    </a:rPr>
                                    <m:t>𝒖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ar-AE" altLang="zh-CN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altLang="zh-CN" sz="160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  <m:sup>
                                      <m:r>
                                        <a:rPr lang="ar-AE" altLang="zh-CN" sz="160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  <m:r>
                                <a:rPr lang="ar-AE" altLang="zh-CN" sz="160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b>
                          <m:r>
                            <a:rPr lang="ar-AE" altLang="zh-CN" sz="16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ar-AE" altLang="zh-CN" sz="9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E798350-106B-5D90-300C-370F5D5C0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575856"/>
                <a:ext cx="4572000" cy="373436"/>
              </a:xfrm>
              <a:prstGeom prst="rect">
                <a:avLst/>
              </a:prstGeom>
              <a:blipFill>
                <a:blip r:embed="rId3"/>
                <a:stretch>
                  <a:fillRect t="-10000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280A9EA-5B0A-1686-6932-DA1DA3DB29D0}"/>
                  </a:ext>
                </a:extLst>
              </p:cNvPr>
              <p:cNvSpPr txBox="1"/>
              <p:nvPr/>
            </p:nvSpPr>
            <p:spPr>
              <a:xfrm>
                <a:off x="2460861" y="2506577"/>
                <a:ext cx="4572000" cy="4571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altLang="zh-CN" sz="1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ar-AE" altLang="zh-CN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altLang="zh-CN" sz="180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ar-AE" altLang="zh-CN" sz="180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ar-AE" altLang="zh-CN" sz="180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ar-AE" altLang="zh-CN" sz="180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bSup>
                      <m:r>
                        <a:rPr lang="ar-AE" altLang="zh-CN" sz="1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zh-CN" sz="180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ar-AE" altLang="zh-CN" sz="18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altLang="zh-C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zh-CN" sz="180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ar-AE" altLang="zh-CN" sz="18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altLang="zh-CN" sz="18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altLang="zh-C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zh-CN" sz="180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ar-AE" altLang="zh-CN" sz="180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altLang="zh-CN" sz="18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280A9EA-5B0A-1686-6932-DA1DA3DB29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0861" y="2506577"/>
                <a:ext cx="4572000" cy="457176"/>
              </a:xfrm>
              <a:prstGeom prst="rect">
                <a:avLst/>
              </a:prstGeom>
              <a:blipFill>
                <a:blip r:embed="rId4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BB4B0A97-21E1-A7E4-922C-12C6CD3F84FD}"/>
                  </a:ext>
                </a:extLst>
              </p:cNvPr>
              <p:cNvSpPr txBox="1"/>
              <p:nvPr/>
            </p:nvSpPr>
            <p:spPr>
              <a:xfrm>
                <a:off x="4886944" y="2129967"/>
                <a:ext cx="4572000" cy="10706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zh-CN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" altLang="zh-CN"/>
                            <m:t>miss</m:t>
                          </m:r>
                        </m:sub>
                      </m:sSub>
                      <m:r>
                        <a:rPr lang="ar-AE" altLang="zh-CN">
                          <a:latin typeface="Cambria Math" panose="02040503050406030204" pitchFamily="18" charset="0"/>
                        </a:rPr>
                        <m:t>←</m:t>
                      </m:r>
                      <m:sSubSup>
                        <m:sSubSup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ar-AE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altLang="zh-CN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ar-AE" altLang="zh-CN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ar-AE" altLang="zh-CN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ar-AE" altLang="zh-CN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bSup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ar-AE" altLang="zh-CN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ar-AE" altLang="zh-CN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zh-CN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ar-AE" altLang="zh-CN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sSub>
                        <m:sSub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altLang="zh-CN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ar-AE" altLang="zh-CN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sSubSup>
                        <m:sSubSupPr>
                          <m:ctrlPr>
                            <a:rPr lang="ar-AE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altLang="zh-CN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ar-AE" altLang="zh-CN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ar-AE" altLang="zh-CN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best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=30)</m:t>
                      </m:r>
                    </m:oMath>
                  </m:oMathPara>
                </a14:m>
                <a:endParaRPr lang="en-US" altLang="zh-CN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BB4B0A97-21E1-A7E4-922C-12C6CD3F84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6944" y="2129967"/>
                <a:ext cx="4572000" cy="10706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ACB97773-FDCE-F576-C109-812E041DCD73}"/>
                  </a:ext>
                </a:extLst>
              </p:cNvPr>
              <p:cNvSpPr txBox="1"/>
              <p:nvPr/>
            </p:nvSpPr>
            <p:spPr>
              <a:xfrm>
                <a:off x="359898" y="3381650"/>
                <a:ext cx="7597258" cy="362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" altLang="zh-CN" smtClean="0">
                        <a:latin typeface="Cambria Math" panose="02040503050406030204" pitchFamily="18" charset="0"/>
                      </a:rPr>
                      <m:t>RMSE</m:t>
                    </m:r>
                    <m:r>
                      <a:rPr lang="zh-CN" altLang="en-US" b="0" i="0" smtClean="0">
                        <a:latin typeface="Cambria Math" panose="02040503050406030204" pitchFamily="18" charset="0"/>
                      </a:rPr>
                      <m:t>                          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\</m:t>
                    </m:r>
                    <m:r>
                      <a:rPr lang="zh-CN" altLang="en-US" b="0" i="0" smtClean="0">
                        <a:latin typeface="Cambria Math" panose="02040503050406030204" pitchFamily="18" charset="0"/>
                      </a:rPr>
                      <m:t>                                        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1.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3733</m:t>
                    </m:r>
                    <m:r>
                      <a:rPr lang="zh-CN" altLang="en-US" b="0" i="0" smtClean="0">
                        <a:latin typeface="Cambria Math" panose="02040503050406030204" pitchFamily="18" charset="0"/>
                      </a:rPr>
                      <m:t>           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zh-CN" altLang="en-US" b="0" i="0" smtClean="0">
                        <a:latin typeface="Cambria Math" panose="02040503050406030204" pitchFamily="18" charset="0"/>
                      </a:rPr>
                      <m:t>            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1.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3765</m:t>
                    </m:r>
                  </m:oMath>
                </a14:m>
                <a:r>
                  <a:rPr lang="zh-CN" altLang="en-US" sz="1000" dirty="0"/>
                  <a:t> </a:t>
                </a:r>
                <a:endParaRPr lang="en" altLang="zh-CN" sz="1000" dirty="0"/>
              </a:p>
            </p:txBody>
          </p:sp>
        </mc:Choice>
        <mc:Fallback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ACB97773-FDCE-F576-C109-812E041DC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898" y="3381650"/>
                <a:ext cx="7597258" cy="362984"/>
              </a:xfrm>
              <a:prstGeom prst="rect">
                <a:avLst/>
              </a:prstGeom>
              <a:blipFill>
                <a:blip r:embed="rId6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下弧形箭头 20">
            <a:extLst>
              <a:ext uri="{FF2B5EF4-FFF2-40B4-BE49-F238E27FC236}">
                <a16:creationId xmlns:a16="http://schemas.microsoft.com/office/drawing/2014/main" id="{A6F11798-AF0A-312D-CE35-55110C3260FB}"/>
              </a:ext>
            </a:extLst>
          </p:cNvPr>
          <p:cNvSpPr/>
          <p:nvPr/>
        </p:nvSpPr>
        <p:spPr>
          <a:xfrm>
            <a:off x="3340831" y="1307025"/>
            <a:ext cx="663549" cy="283154"/>
          </a:xfrm>
          <a:prstGeom prst="curved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2" name="下弧形箭头 21">
            <a:extLst>
              <a:ext uri="{FF2B5EF4-FFF2-40B4-BE49-F238E27FC236}">
                <a16:creationId xmlns:a16="http://schemas.microsoft.com/office/drawing/2014/main" id="{9F173F8A-B4DF-1F19-DAFF-1376A4166DE5}"/>
              </a:ext>
            </a:extLst>
          </p:cNvPr>
          <p:cNvSpPr/>
          <p:nvPr/>
        </p:nvSpPr>
        <p:spPr>
          <a:xfrm>
            <a:off x="5519873" y="1339988"/>
            <a:ext cx="663549" cy="283154"/>
          </a:xfrm>
          <a:prstGeom prst="curved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7483231" cy="857250"/>
          </a:xfrm>
        </p:spPr>
        <p:txBody>
          <a:bodyPr/>
          <a:lstStyle/>
          <a:p>
            <a:pPr marL="0" lvl="0" indent="0" algn="l">
              <a:buNone/>
            </a:pPr>
            <a:r>
              <a:rPr lang="en" sz="2900" b="1" dirty="0">
                <a:solidFill>
                  <a:srgbClr val="3A1C5C"/>
                </a:solidFill>
                <a:latin typeface="Times New Roman"/>
                <a:ea typeface="+mn-ea"/>
                <a:cs typeface="+mn-cs"/>
              </a:rPr>
              <a:t>Q</a:t>
            </a:r>
            <a:r>
              <a:rPr lang="en-US" altLang="zh-CN" sz="2900" b="1" dirty="0">
                <a:solidFill>
                  <a:srgbClr val="3A1C5C"/>
                </a:solidFill>
                <a:latin typeface="Times New Roman"/>
                <a:ea typeface="+mn-ea"/>
                <a:cs typeface="+mn-cs"/>
              </a:rPr>
              <a:t>7:</a:t>
            </a:r>
            <a:r>
              <a:rPr lang="zh-CN" altLang="en-US" sz="1320" dirty="0"/>
              <a:t> </a:t>
            </a:r>
            <a:r>
              <a:rPr sz="2900" b="1" dirty="0">
                <a:solidFill>
                  <a:srgbClr val="3A1C5C"/>
                </a:solidFill>
                <a:latin typeface="Times New Roman"/>
                <a:ea typeface="+mn-ea"/>
                <a:cs typeface="+mn-cs"/>
              </a:rPr>
              <a:t>Observed-Only Matrix Factorization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3229"/>
                <a:ext cx="8229600" cy="3394472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Prediction model </a:t>
                </a:r>
                <a:r>
                  <a:rPr lang="en" sz="16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(to capture interaction):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ar-AE" sz="1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60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ar-AE" sz="16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16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ar-AE" sz="160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ar-AE" sz="16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sz="16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lang="ar-AE" sz="16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ar-AE" sz="16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ar-AE" sz="16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ar-AE" sz="16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ar-AE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>
                  <a:buNone/>
                </a:pPr>
                <a:r>
                  <a:rPr lang="e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Training objective, while </a:t>
                </a:r>
                <a:r>
                  <a:rPr lang="en" sz="16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regularization </a:t>
                </a:r>
                <a14:m>
                  <m:oMath xmlns:m="http://schemas.openxmlformats.org/officeDocument/2006/math">
                    <m:r>
                      <a:rPr lang="en" sz="16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en-US" sz="16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=0.1</m:t>
                    </m:r>
                  </m:oMath>
                </a14:m>
                <a:r>
                  <a:rPr lang="e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" sz="1600">
                          <a:latin typeface="Cambria Math" panose="02040503050406030204" pitchFamily="18" charset="0"/>
                        </a:rPr>
                        <m:t>min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)∈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obs</m:t>
                          </m:r>
                        </m:sub>
                        <m:sup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p>
                            <m:sSup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ar-AE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160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ar-AE" sz="1600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r>
                                    <a:rPr lang="ar-AE" sz="16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 sz="160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ar-AE" sz="16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ar-AE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160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ar-AE" sz="160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ar-AE" sz="16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ar-AE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160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ar-AE" sz="160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ar-AE" sz="16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ar-AE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ar-AE" sz="1600">
                                          <a:latin typeface="Cambria Math" panose="02040503050406030204" pitchFamily="18" charset="0"/>
                                        </a:rPr>
                                        <m:t>𝑼</m:t>
                                      </m:r>
                                    </m:e>
                                    <m:sub>
                                      <m:r>
                                        <a:rPr lang="ar-AE" sz="160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ar-AE" sz="1600">
                                          <a:latin typeface="Cambria Math" panose="02040503050406030204" pitchFamily="18" charset="0"/>
                                        </a:rPr>
                                        <m:t>⊤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ar-AE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1600">
                                          <a:latin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ar-AE" sz="160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ar-AE" sz="16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1600">
                          <a:latin typeface="Cambria Math" panose="02040503050406030204" pitchFamily="18" charset="0"/>
                        </a:rPr>
                        <m:t>𝜆</m:t>
                      </m:r>
                      <m:d>
                        <m:d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ar-AE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ar-AE" altLang="zh-CN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ar-AE" altLang="zh-CN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ar-AE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ar-AE" altLang="zh-CN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∥</m:t>
                                  </m:r>
                                  <m:sSub>
                                    <m:sSubPr>
                                      <m:ctrlPr>
                                        <a:rPr lang="en-US" altLang="zh-CN" sz="16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16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∥</m:t>
                                  </m:r>
                                </m:e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ar-AE" altLang="zh-CN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∥</m:t>
                                  </m:r>
                                  <m:sSub>
                                    <m:sSub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∥</m:t>
                                  </m:r>
                                </m:e>
                                <m:sup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</m:oMath>
                  </m:oMathPara>
                </a14:m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>
                  <a:buNone/>
                </a:pPr>
                <a:endParaRPr lang="ar-AE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lvl="0" indent="0">
                  <a:buNone/>
                </a:pPr>
                <a:r>
                  <a:rPr lang="en" sz="16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Validation-calibrated</a:t>
                </a:r>
                <a:r>
                  <a:rPr lang="e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prediction: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bSup>
                      <m:r>
                        <a:rPr lang="ar-AE" sz="1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60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ar-AE" sz="16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16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ar-AE" sz="16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16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sSubSup>
                        <m:sSubSup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ar-AE" sz="1600">
                          <a:latin typeface="Cambria Math" panose="02040503050406030204" pitchFamily="18" charset="0"/>
                        </a:rPr>
                        <m:t>,  </m:t>
                      </m:r>
                      <m:r>
                        <a:rPr lang="ar-AE" sz="160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ar-AE" sz="1600">
                          <a:latin typeface="Cambria Math" panose="02040503050406030204" pitchFamily="18" charset="0"/>
                        </a:rPr>
                        <m:t>=0.40,  </m:t>
                      </m:r>
                      <m:r>
                        <m:rPr>
                          <m:sty m:val="p"/>
                        </m:rPr>
                        <a:rPr lang="en" sz="1600">
                          <a:latin typeface="Cambria Math" panose="02040503050406030204" pitchFamily="18" charset="0"/>
                        </a:rPr>
                        <m:t>RMSE</m:t>
                      </m:r>
                      <m:r>
                        <a:rPr lang="en" sz="1600">
                          <a:latin typeface="Cambria Math" panose="02040503050406030204" pitchFamily="18" charset="0"/>
                        </a:rPr>
                        <m:t>=1.3143</m:t>
                      </m:r>
                    </m:oMath>
                  </m:oMathPara>
                </a14:m>
                <a:endParaRPr lang="en" sz="1600" dirty="0">
                  <a:latin typeface="Times New Roman" panose="02020603050405020304" pitchFamily="18" charset="0"/>
                </a:endParaRPr>
              </a:p>
              <a:p>
                <a:pPr marL="0" lvl="0" indent="0">
                  <a:buNone/>
                </a:pPr>
                <a:r>
                  <a:rPr lang="en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Adding </a:t>
                </a:r>
                <a14:m>
                  <m:oMath xmlns:m="http://schemas.openxmlformats.org/officeDocument/2006/math">
                    <m:r>
                      <a:rPr lang="en" altLang="zh-CN" sz="1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shrinks the final contribution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zh-CN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ar-AE" altLang="zh-CN" sz="1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𝑈</m:t>
                        </m:r>
                      </m:e>
                      <m:sub>
                        <m:r>
                          <a:rPr lang="ar-AE" altLang="zh-CN" sz="1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ar-AE" altLang="zh-CN" sz="1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⊤</m:t>
                        </m:r>
                      </m:sup>
                    </m:sSubSup>
                    <m:sSub>
                      <m:sSubPr>
                        <m:ctrlPr>
                          <a:rPr lang="ar-AE" altLang="zh-CN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ar-AE" altLang="zh-CN" sz="1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ar-AE" altLang="zh-CN" sz="1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because this latent interaction may be noisy in sparse data. Unlike stronger regularization, which changes how </a:t>
                </a:r>
                <a14:m>
                  <m:oMath xmlns:m="http://schemas.openxmlformats.org/officeDocument/2006/math">
                    <m:r>
                      <a:rPr lang="en" altLang="zh-CN" sz="1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𝑈</m:t>
                    </m:r>
                    <m:r>
                      <a:rPr lang="en" altLang="zh-CN" sz="1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" altLang="zh-CN" sz="1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 learned during training, </a:t>
                </a:r>
                <a14:m>
                  <m:oMath xmlns:m="http://schemas.openxmlformats.org/officeDocument/2006/math">
                    <m:r>
                      <a:rPr lang="en" altLang="zh-CN" sz="14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</m:oMath>
                </a14:m>
                <a:r>
                  <a:rPr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" altLang="zh-C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keeps </a:t>
                </a:r>
                <a14:m>
                  <m:oMath xmlns:m="http://schemas.openxmlformats.org/officeDocument/2006/math">
                    <m:r>
                      <a:rPr lang="en" altLang="zh-CN" sz="14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𝐔</m:t>
                    </m:r>
                    <m:r>
                      <a:rPr lang="en" altLang="zh-CN" sz="1400" b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" altLang="zh-CN" sz="14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𝐕</m:t>
                    </m:r>
                  </m:oMath>
                </a14:m>
                <a:r>
                  <a:rPr lang="zh-CN" alt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" altLang="zh-C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fixed and only calibrates how much we trust their dot product at prediction time.</a:t>
                </a:r>
                <a:r>
                  <a:rPr lang="zh-CN" alt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is confirmed to be </a:t>
                </a:r>
                <a:r>
                  <a:rPr lang="en-US" altLang="zh-CN" sz="14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effective way to reduce RMSE in this case.</a:t>
                </a:r>
                <a:endParaRPr sz="1400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3229"/>
                <a:ext cx="8229600" cy="3394472"/>
              </a:xfrm>
              <a:blipFill>
                <a:blip r:embed="rId3"/>
                <a:stretch>
                  <a:fillRect l="-463" t="-1119" b="-11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75356"/>
            <a:ext cx="2133600" cy="273844"/>
          </a:xfrm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z="1320" smtClean="0"/>
              <a:pPr/>
              <a:t>3</a:t>
            </a:fld>
            <a:endParaRPr lang="en-US" sz="132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线形标注 2 28">
            <a:extLst>
              <a:ext uri="{FF2B5EF4-FFF2-40B4-BE49-F238E27FC236}">
                <a16:creationId xmlns:a16="http://schemas.microsoft.com/office/drawing/2014/main" id="{58BC404B-DFEA-0B7D-AADD-517C87E852BB}"/>
              </a:ext>
            </a:extLst>
          </p:cNvPr>
          <p:cNvSpPr/>
          <p:nvPr/>
        </p:nvSpPr>
        <p:spPr>
          <a:xfrm rot="5400000">
            <a:off x="5667042" y="2755345"/>
            <a:ext cx="889167" cy="1223719"/>
          </a:xfrm>
          <a:prstGeom prst="borderCallout2">
            <a:avLst>
              <a:gd name="adj1" fmla="val 35995"/>
              <a:gd name="adj2" fmla="val -2893"/>
              <a:gd name="adj3" fmla="val 35489"/>
              <a:gd name="adj4" fmla="val -18707"/>
              <a:gd name="adj5" fmla="val 27337"/>
              <a:gd name="adj6" fmla="val -323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线形标注 2 24">
            <a:extLst>
              <a:ext uri="{FF2B5EF4-FFF2-40B4-BE49-F238E27FC236}">
                <a16:creationId xmlns:a16="http://schemas.microsoft.com/office/drawing/2014/main" id="{5CC6C127-1C53-D6E6-0431-85DD8B51633E}"/>
              </a:ext>
            </a:extLst>
          </p:cNvPr>
          <p:cNvSpPr/>
          <p:nvPr/>
        </p:nvSpPr>
        <p:spPr>
          <a:xfrm rot="5400000">
            <a:off x="7255212" y="2484421"/>
            <a:ext cx="669305" cy="1540765"/>
          </a:xfrm>
          <a:prstGeom prst="borderCallout2">
            <a:avLst>
              <a:gd name="adj1" fmla="val 53406"/>
              <a:gd name="adj2" fmla="val -6751"/>
              <a:gd name="adj3" fmla="val 43802"/>
              <a:gd name="adj4" fmla="val -32144"/>
              <a:gd name="adj5" fmla="val 43791"/>
              <a:gd name="adj6" fmla="val -45403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线形标注 2 21">
            <a:extLst>
              <a:ext uri="{FF2B5EF4-FFF2-40B4-BE49-F238E27FC236}">
                <a16:creationId xmlns:a16="http://schemas.microsoft.com/office/drawing/2014/main" id="{B67FAD3B-5FAF-1E45-EB16-B44CFCB24D43}"/>
              </a:ext>
            </a:extLst>
          </p:cNvPr>
          <p:cNvSpPr/>
          <p:nvPr/>
        </p:nvSpPr>
        <p:spPr>
          <a:xfrm rot="5400000">
            <a:off x="7715040" y="3019615"/>
            <a:ext cx="504969" cy="1871785"/>
          </a:xfrm>
          <a:prstGeom prst="borderCallout2">
            <a:avLst>
              <a:gd name="adj1" fmla="val 18750"/>
              <a:gd name="adj2" fmla="val -8333"/>
              <a:gd name="adj3" fmla="val 11234"/>
              <a:gd name="adj4" fmla="val -66193"/>
              <a:gd name="adj5" fmla="val 11710"/>
              <a:gd name="adj6" fmla="val -222073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线形标注 2 17">
            <a:extLst>
              <a:ext uri="{FF2B5EF4-FFF2-40B4-BE49-F238E27FC236}">
                <a16:creationId xmlns:a16="http://schemas.microsoft.com/office/drawing/2014/main" id="{6ECD472B-C642-996C-24E4-8E3A6C12546A}"/>
              </a:ext>
            </a:extLst>
          </p:cNvPr>
          <p:cNvSpPr/>
          <p:nvPr/>
        </p:nvSpPr>
        <p:spPr>
          <a:xfrm rot="5400000">
            <a:off x="4280095" y="2569189"/>
            <a:ext cx="646332" cy="154076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4095"/>
              <a:gd name="adj6" fmla="val -6255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l">
              <a:buNone/>
            </a:pPr>
            <a:r>
              <a:rPr lang="en-US" altLang="zh-CN" sz="2900" b="1" dirty="0">
                <a:solidFill>
                  <a:srgbClr val="3A1C5C"/>
                </a:solidFill>
                <a:latin typeface="Times New Roman"/>
                <a:ea typeface="+mn-ea"/>
                <a:cs typeface="+mn-cs"/>
              </a:rPr>
              <a:t>Proceed</a:t>
            </a:r>
            <a:r>
              <a:rPr lang="zh-CN" altLang="en-US" sz="2900" b="1" dirty="0">
                <a:solidFill>
                  <a:srgbClr val="3A1C5C"/>
                </a:solidFill>
                <a:latin typeface="Times New Roman"/>
                <a:ea typeface="+mn-ea"/>
                <a:cs typeface="+mn-cs"/>
              </a:rPr>
              <a:t> </a:t>
            </a:r>
            <a:r>
              <a:rPr lang="en-US" altLang="zh-CN" sz="2900" b="1" dirty="0">
                <a:solidFill>
                  <a:srgbClr val="3A1C5C"/>
                </a:solidFill>
                <a:latin typeface="Times New Roman"/>
                <a:ea typeface="+mn-ea"/>
                <a:cs typeface="+mn-cs"/>
              </a:rPr>
              <a:t>to </a:t>
            </a:r>
            <a:r>
              <a:rPr sz="2900" b="1" dirty="0">
                <a:solidFill>
                  <a:srgbClr val="3A1C5C"/>
                </a:solidFill>
                <a:latin typeface="Times New Roman"/>
                <a:ea typeface="+mn-ea"/>
                <a:cs typeface="+mn-cs"/>
              </a:rPr>
              <a:t>Q12: </a:t>
            </a:r>
            <a:r>
              <a:rPr lang="en-US" sz="2900" b="1" dirty="0">
                <a:solidFill>
                  <a:srgbClr val="3A1C5C"/>
                </a:solidFill>
                <a:latin typeface="Times New Roman"/>
                <a:ea typeface="+mn-ea"/>
                <a:cs typeface="+mn-cs"/>
              </a:rPr>
              <a:t>Beyond Rating Matrix</a:t>
            </a:r>
            <a:endParaRPr sz="2900" b="1" dirty="0">
              <a:solidFill>
                <a:srgbClr val="3A1C5C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z="1320" smtClean="0"/>
              <a:pPr/>
              <a:t>4</a:t>
            </a:fld>
            <a:endParaRPr lang="en-US" sz="132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84925DB-736E-51D6-121F-0D2E23944A37}"/>
              </a:ext>
            </a:extLst>
          </p:cNvPr>
          <p:cNvSpPr txBox="1"/>
          <p:nvPr/>
        </p:nvSpPr>
        <p:spPr>
          <a:xfrm>
            <a:off x="453293" y="1022394"/>
            <a:ext cx="81162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e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 rating matrix is extremely sparse, Q12 adds </a:t>
            </a:r>
            <a:r>
              <a:rPr lang="en" altLang="zh-CN"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external features and residual corrections </a:t>
            </a:r>
            <a:r>
              <a:rPr lang="e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recover information that Q7 cannot learn from ratings alone.</a:t>
            </a:r>
          </a:p>
          <a:p>
            <a:pPr marL="0" lvl="0" indent="0">
              <a:buNone/>
            </a:pPr>
            <a:endParaRPr lang="e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0DA3AB7-4FFF-D621-1F0B-D45DBBD7E5D6}"/>
                  </a:ext>
                </a:extLst>
              </p:cNvPr>
              <p:cNvSpPr txBox="1"/>
              <p:nvPr/>
            </p:nvSpPr>
            <p:spPr>
              <a:xfrm>
                <a:off x="203200" y="2218951"/>
                <a:ext cx="8940800" cy="3945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altLang="zh-CN" sz="15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ar-AE" altLang="zh-CN" sz="15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𝒳</m:t>
                          </m:r>
                        </m:e>
                        <m:sub>
                          <m:r>
                            <a:rPr lang="en-US" altLang="zh-CN" sz="1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altLang="zh-CN" sz="1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  <m:r>
                            <a:rPr lang="en-US" altLang="zh-CN" sz="1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12</m:t>
                          </m:r>
                        </m:sup>
                      </m:sSubSup>
                      <m:r>
                        <a:rPr lang="en-US" altLang="zh-CN" sz="15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1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sz="1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𝑀𝐹</m:t>
                              </m:r>
                            </m:sup>
                          </m:sSubSup>
                          <m:r>
                            <a:rPr lang="en-US" altLang="zh-CN" sz="1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sSubSup>
                            <m:sSubSupPr>
                              <m:ctrlPr>
                                <a:rPr lang="en-US" altLang="zh-CN" sz="1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1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sz="1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𝑀𝐹</m:t>
                              </m:r>
                            </m:sup>
                          </m:sSubSup>
                          <m:r>
                            <a:rPr lang="en-US" altLang="zh-CN" sz="1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1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sz="1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1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CN" sz="1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1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1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sSubSup>
                            <m:sSubSupPr>
                              <m:ctrlPr>
                                <a:rPr lang="en-US" altLang="zh-CN" sz="1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sz="1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zh-CN" sz="1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altLang="zh-CN" sz="1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sz="1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15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sSubSup>
                            <m:sSubSupPr>
                              <m:ctrlPr>
                                <a:rPr lang="en-US" altLang="zh-CN" sz="1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15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15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1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𝑖𝑗</m:t>
                              </m:r>
                            </m:sub>
                            <m:sup>
                              <m:r>
                                <a:rPr lang="en-US" altLang="zh-CN" sz="1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𝑀𝐹</m:t>
                              </m:r>
                            </m:sup>
                          </m:sSubSup>
                        </m:e>
                      </m:d>
                      <m:r>
                        <a:rPr lang="en-US" altLang="zh-CN" sz="1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∪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5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CN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1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sz="1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𝑢𝑠𝑒𝑟</m:t>
                              </m:r>
                            </m:sup>
                          </m:sSubSup>
                          <m:r>
                            <a:rPr lang="en-US" altLang="zh-CN" sz="1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⨂</m:t>
                          </m:r>
                          <m:sSubSup>
                            <m:sSubSupPr>
                              <m:ctrlPr>
                                <a:rPr lang="en-US" altLang="zh-CN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5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altLang="zh-CN" sz="15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US" altLang="zh-CN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sz="1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𝑟𝑒𝑠𝑡</m:t>
                              </m:r>
                            </m:sup>
                          </m:sSubSup>
                        </m:e>
                      </m:d>
                      <m:r>
                        <a:rPr lang="en-US" altLang="zh-CN" sz="15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∪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5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zh-CN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altLang="zh-CN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𝑡𝑒𝑥𝑡</m:t>
                              </m:r>
                            </m:sup>
                          </m:sSubSup>
                        </m:e>
                      </m:d>
                      <m:r>
                        <a:rPr lang="en-US" altLang="zh-CN" sz="15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∪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5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CN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5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sz="15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altLang="zh-CN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𝑢𝑠𝑒𝑟</m:t>
                              </m:r>
                            </m:sup>
                          </m:sSubSup>
                          <m:r>
                            <a:rPr lang="en-US" altLang="zh-CN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⨂</m:t>
                          </m:r>
                          <m:sSubSup>
                            <m:sSubSupPr>
                              <m:ctrlPr>
                                <a:rPr lang="en-US" altLang="zh-CN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5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zh-CN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altLang="zh-CN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𝑡𝑒𝑥𝑡</m:t>
                              </m:r>
                            </m:sup>
                          </m:sSubSup>
                        </m:e>
                      </m:d>
                      <m:r>
                        <a:rPr lang="en-US" altLang="zh-CN" sz="15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∪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5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US" altLang="zh-CN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altLang="zh-CN" sz="15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𝑡𝑒𝑥𝑡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altLang="zh-CN" sz="15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5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5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𝑈</m:t>
                                  </m:r>
                                </m:e>
                                <m:sub>
                                  <m:r>
                                    <a:rPr lang="en-US" altLang="zh-CN" sz="15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15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altLang="zh-CN" sz="15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5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zh-CN" sz="15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CN" sz="15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∪</m:t>
                      </m:r>
                      <m:r>
                        <a:rPr lang="en-US" altLang="zh-CN" sz="1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altLang="zh-CN" sz="1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5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𝐞</m:t>
                          </m:r>
                        </m:e>
                        <m:sub>
                          <m:r>
                            <a:rPr lang="en-US" altLang="zh-CN" sz="1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1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sz="1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5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𝐞</m:t>
                          </m:r>
                        </m:e>
                        <m:sub>
                          <m:r>
                            <a:rPr lang="en-US" altLang="zh-CN" sz="15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15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ar-AE" altLang="zh-CN" sz="1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0DA3AB7-4FFF-D621-1F0B-D45DBBD7E5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0" y="2218951"/>
                <a:ext cx="8940800" cy="394595"/>
              </a:xfrm>
              <a:prstGeom prst="rect">
                <a:avLst/>
              </a:prstGeom>
              <a:blipFill>
                <a:blip r:embed="rId3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左大括号 10">
            <a:extLst>
              <a:ext uri="{FF2B5EF4-FFF2-40B4-BE49-F238E27FC236}">
                <a16:creationId xmlns:a16="http://schemas.microsoft.com/office/drawing/2014/main" id="{D2211CE1-51E2-4769-A660-57C48B192059}"/>
              </a:ext>
            </a:extLst>
          </p:cNvPr>
          <p:cNvSpPr/>
          <p:nvPr/>
        </p:nvSpPr>
        <p:spPr>
          <a:xfrm rot="16200000">
            <a:off x="2193856" y="1683053"/>
            <a:ext cx="145209" cy="2016369"/>
          </a:xfrm>
          <a:prstGeom prst="leftBrac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52B03A1-C1D6-5DFA-5A9D-392C1C54FE0B}"/>
              </a:ext>
            </a:extLst>
          </p:cNvPr>
          <p:cNvSpPr txBox="1"/>
          <p:nvPr/>
        </p:nvSpPr>
        <p:spPr>
          <a:xfrm>
            <a:off x="1879601" y="2763842"/>
            <a:ext cx="9808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Q7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线形标注 2 13">
            <a:extLst>
              <a:ext uri="{FF2B5EF4-FFF2-40B4-BE49-F238E27FC236}">
                <a16:creationId xmlns:a16="http://schemas.microsoft.com/office/drawing/2014/main" id="{C91A2892-B658-4764-A711-3C077361E9B0}"/>
              </a:ext>
            </a:extLst>
          </p:cNvPr>
          <p:cNvSpPr/>
          <p:nvPr/>
        </p:nvSpPr>
        <p:spPr>
          <a:xfrm rot="5400000">
            <a:off x="2444151" y="2784732"/>
            <a:ext cx="841508" cy="154076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9528"/>
              <a:gd name="adj6" fmla="val -57913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D816E2B-C6AB-4874-1733-B614BA8BF6CB}"/>
              </a:ext>
            </a:extLst>
          </p:cNvPr>
          <p:cNvSpPr txBox="1"/>
          <p:nvPr/>
        </p:nvSpPr>
        <p:spPr>
          <a:xfrm>
            <a:off x="2094523" y="3144871"/>
            <a:ext cx="15407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" altLang="zh-CN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 features </a:t>
            </a:r>
            <a:r>
              <a:rPr lang="en" altLang="zh-CN" sz="1200" b="0" i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crossed with</a:t>
            </a:r>
            <a:r>
              <a:rPr lang="en" altLang="zh-CN" sz="1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 features (each top 12 coefficient strength)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4DDEE7D-3DA1-81D6-B919-14DDD90ED219}"/>
              </a:ext>
            </a:extLst>
          </p:cNvPr>
          <p:cNvSpPr txBox="1"/>
          <p:nvPr/>
        </p:nvSpPr>
        <p:spPr>
          <a:xfrm>
            <a:off x="3832878" y="3016405"/>
            <a:ext cx="16278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PCA-reduced SBERT embeddings of restaurant descriptions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BA03515-F87C-469F-6C43-EA711572ED9B}"/>
              </a:ext>
            </a:extLst>
          </p:cNvPr>
          <p:cNvSpPr txBox="1"/>
          <p:nvPr/>
        </p:nvSpPr>
        <p:spPr>
          <a:xfrm>
            <a:off x="7031633" y="3744708"/>
            <a:ext cx="18717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One-hot indicators for each user &amp; each restaurant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DDCFB39-8F33-7B7C-54EF-63280F828095}"/>
              </a:ext>
            </a:extLst>
          </p:cNvPr>
          <p:cNvSpPr txBox="1"/>
          <p:nvPr/>
        </p:nvSpPr>
        <p:spPr>
          <a:xfrm>
            <a:off x="5469636" y="2950547"/>
            <a:ext cx="13408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Top-screened user features crossed with restaurant text components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ABC9211-1097-AF2B-02E4-BBA0EA6421F6}"/>
              </a:ext>
            </a:extLst>
          </p:cNvPr>
          <p:cNvSpPr txBox="1"/>
          <p:nvPr/>
        </p:nvSpPr>
        <p:spPr>
          <a:xfrm>
            <a:off x="6819484" y="2944780"/>
            <a:ext cx="16278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components multiplied by latent user-restaurant match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DFB9ED4-67DC-5F90-D19D-12E368BD7A7F}"/>
              </a:ext>
            </a:extLst>
          </p:cNvPr>
          <p:cNvSpPr txBox="1"/>
          <p:nvPr/>
        </p:nvSpPr>
        <p:spPr>
          <a:xfrm>
            <a:off x="23447" y="4207990"/>
            <a:ext cx="859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</a:t>
            </a:r>
          </a:p>
          <a:p>
            <a:pPr algn="ctr"/>
            <a:r>
              <a:rPr kumimoji="1"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kumimoji="1"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59CC30E2-8C86-035A-2BB5-D5E705CBD102}"/>
                  </a:ext>
                </a:extLst>
              </p:cNvPr>
              <p:cNvSpPr txBox="1"/>
              <p:nvPr/>
            </p:nvSpPr>
            <p:spPr>
              <a:xfrm>
                <a:off x="729067" y="4307376"/>
                <a:ext cx="8328963" cy="3622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16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1+1+ </m:t>
                      </m:r>
                      <m:sSub>
                        <m:sSubPr>
                          <m:ctrlPr>
                            <a:rPr kumimoji="1" lang="en-US" altLang="zh-CN" sz="160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6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10</m:t>
                          </m:r>
                        </m:e>
                        <m:sub>
                          <m:r>
                            <a:rPr kumimoji="1" lang="en-US" altLang="zh-CN" sz="16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kumimoji="1" lang="en-US" altLang="zh-CN" sz="1600" i="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first</m:t>
                          </m:r>
                          <m:r>
                            <a:rPr kumimoji="1" lang="en-US" altLang="zh-CN" sz="16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sub>
                      </m:sSub>
                      <m:r>
                        <a:rPr kumimoji="1" lang="en-US" altLang="zh-CN" sz="16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16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6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10</m:t>
                          </m:r>
                        </m:e>
                        <m:sub>
                          <m:r>
                            <a:rPr kumimoji="1" lang="en-US" altLang="zh-CN" sz="16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kumimoji="1" lang="en-US" altLang="zh-CN" sz="160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first</m:t>
                          </m:r>
                          <m:r>
                            <a:rPr kumimoji="1" lang="en-US" altLang="zh-CN" sz="16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sub>
                      </m:sSub>
                      <m:r>
                        <a:rPr kumimoji="1" lang="en-US" altLang="zh-CN" sz="16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kumimoji="1" lang="en-US" altLang="zh-CN" sz="16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1+1 </m:t>
                      </m:r>
                      <m:r>
                        <a:rPr kumimoji="1" lang="en-US" altLang="zh-CN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kumimoji="1" lang="en-US" altLang="zh-CN" sz="16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20</m:t>
                      </m:r>
                      <m:r>
                        <a:rPr kumimoji="1" lang="en-US" altLang="zh-CN" sz="16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kumimoji="1" lang="en-US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20</m:t>
                      </m:r>
                      <m:r>
                        <a:rPr kumimoji="1" lang="en-US" altLang="zh-CN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kumimoji="1" lang="en-US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10</m:t>
                      </m:r>
                      <m:r>
                        <a:rPr kumimoji="1" lang="en-US" altLang="zh-CN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kumimoji="1" lang="en-US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10×10</m:t>
                      </m:r>
                      <m:r>
                        <a:rPr kumimoji="1" lang="en-US" altLang="zh-CN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kumimoji="1" lang="en-US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10×1 </m:t>
                      </m:r>
                      <m:r>
                        <a:rPr kumimoji="1" lang="en-US" altLang="zh-CN" sz="16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kumimoji="1" lang="en-US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1089+</m:t>
                      </m:r>
                      <m:r>
                        <a:rPr kumimoji="1" lang="en-US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72</m:t>
                      </m:r>
                      <m:r>
                        <a:rPr kumimoji="1" lang="en-US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=1</m:t>
                      </m:r>
                      <m:r>
                        <a:rPr kumimoji="1" lang="en-US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705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59CC30E2-8C86-035A-2BB5-D5E705CBD1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067" y="4307376"/>
                <a:ext cx="8328963" cy="362279"/>
              </a:xfrm>
              <a:prstGeom prst="rect">
                <a:avLst/>
              </a:prstGeom>
              <a:blipFill>
                <a:blip r:embed="rId4"/>
                <a:stretch>
                  <a:fillRect b="-68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/>
            <a:r>
              <a:rPr sz="2900" b="1" dirty="0">
                <a:solidFill>
                  <a:srgbClr val="3A1C5C"/>
                </a:solidFill>
                <a:latin typeface="Times New Roman"/>
                <a:ea typeface="+mn-ea"/>
                <a:cs typeface="+mn-cs"/>
              </a:rPr>
              <a:t>Q12 </a:t>
            </a:r>
            <a:r>
              <a:rPr lang="en" altLang="zh-CN" sz="2900" b="1" dirty="0">
                <a:solidFill>
                  <a:srgbClr val="3A1C5C"/>
                </a:solidFill>
                <a:latin typeface="Times New Roman"/>
              </a:rPr>
              <a:t>Hybrid Lasso Architecture</a:t>
            </a:r>
            <a:endParaRPr sz="2900" b="1" dirty="0">
              <a:solidFill>
                <a:srgbClr val="3A1C5C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z="1320" smtClean="0"/>
              <a:pPr/>
              <a:t>5</a:t>
            </a:fld>
            <a:endParaRPr lang="en-US" sz="132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8919900-4B4A-219D-8279-573423EB9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5075"/>
            <a:ext cx="8229600" cy="339447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Notes for feature selection:</a:t>
            </a:r>
          </a:p>
          <a:p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user demographics and r</a:t>
            </a:r>
            <a:r>
              <a:rPr lang="en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 restaurant attributes</a:t>
            </a:r>
            <a:r>
              <a:rPr lang="en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their useful signal is already captured through screened interaction terms and user ID residuals.</a:t>
            </a:r>
          </a:p>
          <a:p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Q5 bias features</a:t>
            </a: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because Q7/MF bias terms provide a stronger, more flexible version of the same bias structure.</a:t>
            </a:r>
          </a:p>
          <a:p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</a:t>
            </a:r>
            <a:r>
              <a:rPr lang="e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unscreened interactions</a:t>
            </a: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because they inflate feature count under a small training set.</a:t>
            </a:r>
          </a:p>
          <a:p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</a:t>
            </a:r>
            <a:r>
              <a:rPr lang="e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 restaurant × text or bias × text interactions</a:t>
            </a: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because ablation tests showed no RMSE improvement.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A5D6E3E-2BB6-3056-EE25-7A3D9B403DFD}"/>
              </a:ext>
            </a:extLst>
          </p:cNvPr>
          <p:cNvSpPr txBox="1"/>
          <p:nvPr/>
        </p:nvSpPr>
        <p:spPr>
          <a:xfrm>
            <a:off x="457200" y="2594707"/>
            <a:ext cx="67993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Then, after standardizing all features, a Lasso regression model is fitted: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8FE8211-A893-6FDE-3A3F-0A4AA822CE8F}"/>
                  </a:ext>
                </a:extLst>
              </p:cNvPr>
              <p:cNvSpPr txBox="1"/>
              <p:nvPr/>
            </p:nvSpPr>
            <p:spPr>
              <a:xfrm>
                <a:off x="1344246" y="2938227"/>
                <a:ext cx="6275754" cy="6520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" altLang="zh-CN" sz="1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" altLang="zh-CN" sz="1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" altLang="zh-CN" sz="14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" altLang="zh-CN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ar-AE" altLang="zh-CN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 altLang="zh-CN" sz="14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ar-AE" altLang="zh-CN" sz="140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ar-AE" altLang="zh-CN" sz="14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ar-AE" altLang="zh-CN" sz="140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ar-AE" altLang="zh-CN" sz="1400">
                                  <a:latin typeface="Cambria Math" panose="02040503050406030204" pitchFamily="18" charset="0"/>
                                </a:rPr>
                                <m:t>)∈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400">
                                  <a:latin typeface="Cambria Math" panose="02040503050406030204" pitchFamily="18" charset="0"/>
                                </a:rPr>
                                <m:t>obs</m:t>
                              </m:r>
                            </m:sub>
                            <m:sup>
                              <m:r>
                                <a:rPr lang="ar-AE" altLang="zh-CN" sz="140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ar-AE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ar-AE" altLang="zh-CN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ar-AE" altLang="zh-CN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ar-AE" altLang="zh-CN" sz="140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ar-AE" altLang="zh-CN" sz="1400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  <m:r>
                                        <a:rPr lang="ar-AE" altLang="zh-CN" sz="140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ar-AE" altLang="zh-CN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ar-AE" altLang="zh-CN" sz="140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altLang="zh-CN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r>
                                            <a:rPr lang="ar-AE" altLang="zh-CN" sz="1400">
                                              <a:latin typeface="Cambria Math" panose="02040503050406030204" pitchFamily="18" charset="0"/>
                                            </a:rPr>
                                            <m:t>⊤</m:t>
                                          </m:r>
                                        </m:sup>
                                      </m:sSubSup>
                                      <m:r>
                                        <a:rPr lang="ar-AE" altLang="zh-CN" sz="14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ar-AE" altLang="zh-CN" sz="1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ar-AE" altLang="zh-CN" sz="14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l-GR" altLang="zh-CN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ar-AE" altLang="zh-CN" sz="1400">
                              <a:latin typeface="Cambria Math" panose="02040503050406030204" pitchFamily="18" charset="0"/>
                            </a:rPr>
                            <m:t>∥</m:t>
                          </m:r>
                          <m:r>
                            <a:rPr lang="ar-AE" altLang="zh-CN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sSubSup>
                            <m:sSubSupPr>
                              <m:ctrlPr>
                                <a:rPr lang="ar-AE" altLang="zh-CN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altLang="zh-CN" sz="1400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e>
                            <m:sub>
                              <m:r>
                                <a:rPr lang="en-US" altLang="zh-CN" sz="14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14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bSup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func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               </m:t>
                      </m:r>
                      <m:r>
                        <m:rPr>
                          <m:sty m:val="p"/>
                        </m:rPr>
                        <a:rPr lang="en-US" altLang="zh-CN" sz="1400" b="0" i="0" smtClean="0">
                          <a:latin typeface="Cambria Math" panose="02040503050406030204" pitchFamily="18" charset="0"/>
                        </a:rPr>
                        <m:t>with</m:t>
                      </m:r>
                      <m:r>
                        <a:rPr lang="en-US" altLang="zh-CN" sz="1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=2×</m:t>
                      </m:r>
                      <m:sSup>
                        <m:sSup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−5</m:t>
                          </m:r>
                        </m:sup>
                      </m:sSup>
                    </m:oMath>
                  </m:oMathPara>
                </a14:m>
                <a:endParaRPr lang="zh-CN" altLang="en-US" sz="1400" dirty="0"/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8FE8211-A893-6FDE-3A3F-0A4AA822C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4246" y="2938227"/>
                <a:ext cx="6275754" cy="652038"/>
              </a:xfrm>
              <a:prstGeom prst="rect">
                <a:avLst/>
              </a:prstGeom>
              <a:blipFill>
                <a:blip r:embed="rId3"/>
                <a:stretch>
                  <a:fillRect t="-111538" b="-155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DE44D1E-5D10-4659-06C0-C7ED74B2FEFA}"/>
                  </a:ext>
                </a:extLst>
              </p:cNvPr>
              <p:cNvSpPr txBox="1"/>
              <p:nvPr/>
            </p:nvSpPr>
            <p:spPr>
              <a:xfrm>
                <a:off x="457199" y="3626901"/>
                <a:ext cx="8077201" cy="8156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  <a:buNone/>
                </a:pPr>
                <a:r>
                  <a:rPr lang="en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" altLang="zh-C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L1 penalty shrinks weak or noisy coefficients </a:t>
                </a:r>
                <a:r>
                  <a:rPr lang="en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toward zero, which is useful because Q12 has more features than training samples.    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sz="1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705</m:t>
                    </m:r>
                    <m:r>
                      <a:rPr lang="en-US" altLang="zh-CN" sz="1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→1</m:t>
                    </m:r>
                    <m:r>
                      <a:rPr lang="en-US" altLang="zh-CN" sz="14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344</m:t>
                    </m:r>
                  </m:oMath>
                </a14:m>
                <a:r>
                  <a:rPr lang="en" altLang="zh-CN" sz="1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features</a:t>
                </a:r>
              </a:p>
              <a:p>
                <a:pPr>
                  <a:spcAft>
                    <a:spcPts val="600"/>
                  </a:spcAft>
                  <a:buNone/>
                </a:pPr>
                <a:r>
                  <a:rPr lang="en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Finally, by predicting the masked test ratings, clipping predictions to [1, 5], this model gets its </a:t>
                </a:r>
                <a:r>
                  <a:rPr lang="en" altLang="zh-C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RMSE: 1.2</a:t>
                </a:r>
                <a:r>
                  <a:rPr lang="en-US" altLang="zh-C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826</a:t>
                </a:r>
                <a:endParaRPr lang="en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DE44D1E-5D10-4659-06C0-C7ED74B2FE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" y="3626901"/>
                <a:ext cx="8077201" cy="815608"/>
              </a:xfrm>
              <a:prstGeom prst="rect">
                <a:avLst/>
              </a:prstGeom>
              <a:blipFill>
                <a:blip r:embed="rId4"/>
                <a:stretch>
                  <a:fillRect l="-314" t="-1538" b="-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l">
              <a:buNone/>
            </a:pPr>
            <a:r>
              <a:rPr sz="2900" b="1" dirty="0">
                <a:solidFill>
                  <a:srgbClr val="3A1C5C"/>
                </a:solidFill>
                <a:latin typeface="Times New Roman"/>
                <a:ea typeface="+mn-ea"/>
                <a:cs typeface="+mn-cs"/>
              </a:rPr>
              <a:t>Performance</a:t>
            </a:r>
            <a:r>
              <a:rPr lang="en-US" sz="2900" b="1" dirty="0">
                <a:solidFill>
                  <a:srgbClr val="3A1C5C"/>
                </a:solidFill>
                <a:latin typeface="Times New Roman"/>
                <a:ea typeface="+mn-ea"/>
                <a:cs typeface="+mn-cs"/>
              </a:rPr>
              <a:t> Summary</a:t>
            </a:r>
            <a:r>
              <a:rPr lang="zh-CN" altLang="en-US" sz="2900" b="1" dirty="0">
                <a:solidFill>
                  <a:srgbClr val="3A1C5C"/>
                </a:solidFill>
                <a:latin typeface="Times New Roman"/>
                <a:ea typeface="+mn-ea"/>
                <a:cs typeface="+mn-cs"/>
              </a:rPr>
              <a:t> </a:t>
            </a:r>
            <a:r>
              <a:rPr lang="en-US" altLang="zh-CN" sz="2900" b="1" dirty="0">
                <a:solidFill>
                  <a:srgbClr val="3A1C5C"/>
                </a:solidFill>
                <a:latin typeface="Times New Roman"/>
                <a:ea typeface="+mn-ea"/>
                <a:cs typeface="+mn-cs"/>
              </a:rPr>
              <a:t>&amp;</a:t>
            </a:r>
            <a:r>
              <a:rPr lang="zh-CN" altLang="en-US" sz="2900" b="1" dirty="0">
                <a:solidFill>
                  <a:srgbClr val="3A1C5C"/>
                </a:solidFill>
                <a:latin typeface="Times New Roman"/>
                <a:ea typeface="+mn-ea"/>
                <a:cs typeface="+mn-cs"/>
              </a:rPr>
              <a:t> </a:t>
            </a:r>
            <a:r>
              <a:rPr lang="en-US" altLang="zh-CN" sz="2900" b="1" dirty="0">
                <a:solidFill>
                  <a:srgbClr val="3A1C5C"/>
                </a:solidFill>
                <a:latin typeface="Times New Roman"/>
                <a:ea typeface="+mn-ea"/>
                <a:cs typeface="+mn-cs"/>
              </a:rPr>
              <a:t>Takeaways</a:t>
            </a:r>
            <a:endParaRPr sz="2900" b="1" dirty="0">
              <a:solidFill>
                <a:srgbClr val="3A1C5C"/>
              </a:solidFill>
              <a:latin typeface="Times New Roman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58445" y="2578325"/>
                <a:ext cx="7827108" cy="1459919"/>
              </a:xfrm>
            </p:spPr>
            <p:txBody>
              <a:bodyPr>
                <a:normAutofit/>
              </a:bodyPr>
              <a:lstStyle/>
              <a:p>
                <a:pPr marL="0" lvl="0" indent="0">
                  <a:spcAft>
                    <a:spcPts val="600"/>
                  </a:spcAft>
                  <a:buNone/>
                </a:pPr>
                <a:r>
                  <a:rPr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Takeaway: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1600" b="0" i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" altLang="zh-CN" sz="16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The</m:t>
                    </m:r>
                    <m:r>
                      <m:rPr>
                        <m:nor/>
                      </m:rPr>
                      <a:rPr lang="en" altLang="zh-CN" sz="16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" altLang="zh-CN" sz="16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central</m:t>
                    </m:r>
                    <m:r>
                      <m:rPr>
                        <m:nor/>
                      </m:rPr>
                      <a:rPr lang="en" altLang="zh-CN" sz="16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" altLang="zh-CN" sz="16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challenge</m:t>
                    </m:r>
                    <m:r>
                      <m:rPr>
                        <m:nor/>
                      </m:rPr>
                      <a:rPr lang="en" altLang="zh-CN" sz="1600" b="0" i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" altLang="zh-CN" sz="1600" b="0" i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in</m:t>
                    </m:r>
                    <m:r>
                      <m:rPr>
                        <m:nor/>
                      </m:rPr>
                      <a:rPr lang="en" altLang="zh-CN" sz="1600" b="0" i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" altLang="zh-CN" sz="1600" b="0" i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this</m:t>
                    </m:r>
                    <m:r>
                      <m:rPr>
                        <m:nor/>
                      </m:rPr>
                      <a:rPr lang="en" altLang="zh-CN" sz="1600" b="0" i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" altLang="zh-CN" sz="1600" b="0" i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case</m:t>
                    </m:r>
                    <m:r>
                      <m:rPr>
                        <m:nor/>
                      </m:rPr>
                      <a:rPr lang="en" altLang="zh-CN" sz="16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" altLang="zh-CN" sz="16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is</m:t>
                    </m:r>
                    <m:r>
                      <m:rPr>
                        <m:nor/>
                      </m:rPr>
                      <a:rPr lang="en" altLang="zh-CN" sz="16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" altLang="zh-CN" sz="16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extreme</m:t>
                    </m:r>
                    <m:r>
                      <m:rPr>
                        <m:nor/>
                      </m:rPr>
                      <a:rPr lang="en" altLang="zh-CN" sz="16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" altLang="zh-CN" sz="16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sparsity</m:t>
                    </m:r>
                    <m:r>
                      <m:rPr>
                        <m:nor/>
                      </m:rPr>
                      <a:rPr lang="en" altLang="zh-CN" sz="16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n" altLang="zh-CN" sz="16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so</m:t>
                    </m:r>
                    <m:r>
                      <m:rPr>
                        <m:nor/>
                      </m:rPr>
                      <a:rPr lang="en" altLang="zh-CN" sz="16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" altLang="zh-CN" sz="16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the</m:t>
                    </m:r>
                    <m:r>
                      <m:rPr>
                        <m:nor/>
                      </m:rPr>
                      <a:rPr lang="en" altLang="zh-CN" sz="16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" altLang="zh-CN" sz="16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strongest</m:t>
                    </m:r>
                    <m:r>
                      <m:rPr>
                        <m:nor/>
                      </m:rPr>
                      <a:rPr lang="en" altLang="zh-CN" sz="16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" altLang="zh-CN" sz="16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model</m:t>
                    </m:r>
                    <m:r>
                      <m:rPr>
                        <m:nor/>
                      </m:rPr>
                      <a:rPr lang="en" altLang="zh-CN" sz="16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" altLang="zh-CN" sz="16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is</m:t>
                    </m:r>
                    <m:r>
                      <m:rPr>
                        <m:nor/>
                      </m:rPr>
                      <a:rPr lang="en" altLang="zh-CN" sz="16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" altLang="zh-CN" sz="16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not</m:t>
                    </m:r>
                    <m:r>
                      <m:rPr>
                        <m:nor/>
                      </m:rPr>
                      <a:rPr lang="en" altLang="zh-CN" sz="16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" altLang="zh-CN" sz="16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" altLang="zh-CN" sz="16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" altLang="zh-CN" sz="16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single</m:t>
                    </m:r>
                    <m:r>
                      <m:rPr>
                        <m:nor/>
                      </m:rPr>
                      <a:rPr lang="en" altLang="zh-CN" sz="16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" altLang="zh-CN" sz="16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complex</m:t>
                    </m:r>
                    <m:r>
                      <m:rPr>
                        <m:nor/>
                      </m:rPr>
                      <a:rPr lang="en" altLang="zh-CN" sz="16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" altLang="zh-CN" sz="16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algorithm</m:t>
                    </m:r>
                    <m:r>
                      <m:rPr>
                        <m:nor/>
                      </m:rPr>
                      <a:rPr lang="en" altLang="zh-CN" sz="1600" b="0" i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(</m:t>
                    </m:r>
                    <m:r>
                      <m:rPr>
                        <m:nor/>
                      </m:rPr>
                      <a:rPr lang="en" altLang="zh-CN" sz="16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which</m:t>
                    </m:r>
                    <m:r>
                      <m:rPr>
                        <m:nor/>
                      </m:rPr>
                      <a:rPr lang="en" altLang="zh-CN" sz="16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" altLang="zh-CN" sz="16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may</m:t>
                    </m:r>
                    <m:r>
                      <m:rPr>
                        <m:nor/>
                      </m:rPr>
                      <a:rPr lang="en" altLang="zh-CN" sz="16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" altLang="zh-CN" sz="16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overfit</m:t>
                    </m:r>
                    <m:r>
                      <m:rPr>
                        <m:nor/>
                      </m:rPr>
                      <a:rPr lang="en" altLang="zh-CN" sz="1600" b="0" i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),</m:t>
                    </m:r>
                    <m:r>
                      <m:rPr>
                        <m:nor/>
                      </m:rPr>
                      <a:rPr lang="en" altLang="zh-CN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" altLang="zh-CN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but</m:t>
                    </m:r>
                    <m:r>
                      <m:rPr>
                        <m:nor/>
                      </m:rPr>
                      <a:rPr lang="en" altLang="zh-CN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" altLang="zh-CN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" altLang="zh-CN" sz="16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" altLang="zh-CN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hybrid</m:t>
                    </m:r>
                    <m:r>
                      <m:rPr>
                        <m:nor/>
                      </m:rPr>
                      <a:rPr lang="en" altLang="zh-CN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" altLang="zh-CN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system</m:t>
                    </m:r>
                    <m:r>
                      <m:rPr>
                        <m:nor/>
                      </m:rPr>
                      <a:rPr lang="en" altLang="zh-CN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" altLang="zh-CN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that</m:t>
                    </m:r>
                    <m:r>
                      <m:rPr>
                        <m:nor/>
                      </m:rPr>
                      <a:rPr lang="en" altLang="zh-CN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" altLang="zh-CN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combines</m:t>
                    </m:r>
                    <m:r>
                      <m:rPr>
                        <m:nor/>
                      </m:rPr>
                      <a:rPr lang="en" altLang="zh-CN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" altLang="zh-CN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bias</m:t>
                    </m:r>
                    <m:r>
                      <m:rPr>
                        <m:nor/>
                      </m:rPr>
                      <a:rPr lang="en" altLang="zh-CN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" altLang="zh-CN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correction</m:t>
                    </m:r>
                    <m:r>
                      <m:rPr>
                        <m:nor/>
                      </m:rPr>
                      <a:rPr lang="en" altLang="zh-CN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n" altLang="zh-CN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latent</m:t>
                    </m:r>
                    <m:r>
                      <m:rPr>
                        <m:nor/>
                      </m:rPr>
                      <a:rPr lang="en" altLang="zh-CN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" altLang="zh-CN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matrix</m:t>
                    </m:r>
                    <m:r>
                      <m:rPr>
                        <m:nor/>
                      </m:rPr>
                      <a:rPr lang="en" altLang="zh-CN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" altLang="zh-CN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factorization</m:t>
                    </m:r>
                    <m:r>
                      <m:rPr>
                        <m:nor/>
                      </m:rPr>
                      <a:rPr lang="en" altLang="zh-CN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" altLang="zh-CN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structure</m:t>
                    </m:r>
                    <m:r>
                      <m:rPr>
                        <m:nor/>
                      </m:rPr>
                      <a:rPr lang="en" altLang="zh-CN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n" altLang="zh-CN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semantic</m:t>
                    </m:r>
                    <m:r>
                      <m:rPr>
                        <m:nor/>
                      </m:rPr>
                      <a:rPr lang="en" altLang="zh-CN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" altLang="zh-CN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text</m:t>
                    </m:r>
                    <m:r>
                      <m:rPr>
                        <m:nor/>
                      </m:rPr>
                      <a:rPr lang="en" altLang="zh-CN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" altLang="zh-CN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information</m:t>
                    </m:r>
                    <m:r>
                      <m:rPr>
                        <m:nor/>
                      </m:rPr>
                      <a:rPr lang="en" altLang="zh-CN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n" altLang="zh-CN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and</m:t>
                    </m:r>
                    <m:r>
                      <m:rPr>
                        <m:nor/>
                      </m:rPr>
                      <a:rPr lang="en" altLang="zh-CN" sz="1600" b="0" i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" altLang="zh-CN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screened</m:t>
                    </m:r>
                    <m:r>
                      <m:rPr>
                        <m:nor/>
                      </m:rPr>
                      <a:rPr lang="en" altLang="zh-CN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" altLang="zh-CN" sz="1600" b="0" i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top</m:t>
                    </m:r>
                    <m:r>
                      <m:rPr>
                        <m:nor/>
                      </m:rPr>
                      <a:rPr lang="en" altLang="zh-CN" sz="1600" b="0" i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" altLang="zh-CN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interaction</m:t>
                    </m:r>
                    <m:r>
                      <m:rPr>
                        <m:nor/>
                      </m:rPr>
                      <a:rPr lang="en" altLang="zh-CN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" altLang="zh-CN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features</m:t>
                    </m:r>
                    <m:r>
                      <m:rPr>
                        <m:nor/>
                      </m:rPr>
                      <a:rPr lang="en" altLang="zh-CN" sz="1600" b="0" i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n" altLang="zh-CN" sz="1600" b="0" i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regularized</m:t>
                    </m:r>
                    <m:r>
                      <m:rPr>
                        <m:nor/>
                      </m:rPr>
                      <a:rPr lang="en" altLang="zh-CN" sz="1600" b="0" i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" altLang="zh-CN" sz="1600" b="0" i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by</m:t>
                    </m:r>
                    <m:r>
                      <m:rPr>
                        <m:nor/>
                      </m:rPr>
                      <a:rPr lang="en" altLang="zh-CN" sz="1600" b="0" i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ar-AE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60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ar-AE" sz="16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ar-AE" sz="1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" sz="1600" b="0" i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penalty</m:t>
                    </m:r>
                    <m:r>
                      <a:rPr lang="en" sz="160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zh-CN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8445" y="2578325"/>
                <a:ext cx="7827108" cy="1459919"/>
              </a:xfrm>
              <a:blipFill>
                <a:blip r:embed="rId3"/>
                <a:stretch>
                  <a:fillRect l="-324" t="-1739" b="-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/>
              </a:defRPr>
            </a:lvl1pPr>
          </a:lstStyle>
          <a:p>
            <a:fld id="{106E12CD-FCB1-464E-A775-0B83FDDACE03}" type="slidenum">
              <a:rPr lang="en-US" sz="1320" smtClean="0"/>
              <a:pPr/>
              <a:t>6</a:t>
            </a:fld>
            <a:endParaRPr lang="en-US" sz="132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7FC8C6B-E1AC-617B-654F-FDB825E946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4984505"/>
              </p:ext>
            </p:extLst>
          </p:nvPr>
        </p:nvGraphicFramePr>
        <p:xfrm>
          <a:off x="1182076" y="1259315"/>
          <a:ext cx="6779847" cy="858654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806372">
                  <a:extLst>
                    <a:ext uri="{9D8B030D-6E8A-4147-A177-3AD203B41FA5}">
                      <a16:colId xmlns:a16="http://schemas.microsoft.com/office/drawing/2014/main" val="2195652987"/>
                    </a:ext>
                  </a:extLst>
                </a:gridCol>
                <a:gridCol w="1465695">
                  <a:extLst>
                    <a:ext uri="{9D8B030D-6E8A-4147-A177-3AD203B41FA5}">
                      <a16:colId xmlns:a16="http://schemas.microsoft.com/office/drawing/2014/main" val="2295131263"/>
                    </a:ext>
                  </a:extLst>
                </a:gridCol>
                <a:gridCol w="857932">
                  <a:extLst>
                    <a:ext uri="{9D8B030D-6E8A-4147-A177-3AD203B41FA5}">
                      <a16:colId xmlns:a16="http://schemas.microsoft.com/office/drawing/2014/main" val="659066360"/>
                    </a:ext>
                  </a:extLst>
                </a:gridCol>
                <a:gridCol w="2006689">
                  <a:extLst>
                    <a:ext uri="{9D8B030D-6E8A-4147-A177-3AD203B41FA5}">
                      <a16:colId xmlns:a16="http://schemas.microsoft.com/office/drawing/2014/main" val="664912256"/>
                    </a:ext>
                  </a:extLst>
                </a:gridCol>
                <a:gridCol w="1643159">
                  <a:extLst>
                    <a:ext uri="{9D8B030D-6E8A-4147-A177-3AD203B41FA5}">
                      <a16:colId xmlns:a16="http://schemas.microsoft.com/office/drawing/2014/main" val="2845269304"/>
                    </a:ext>
                  </a:extLst>
                </a:gridCol>
              </a:tblGrid>
              <a:tr h="429327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Model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Bias Baseline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SVD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SGD + Interaction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Hybrid Lasso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095462"/>
                  </a:ext>
                </a:extLst>
              </a:tr>
              <a:tr h="429327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RMSE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92D050"/>
                          </a:solidFill>
                        </a:rPr>
                        <a:t>1.3733</a:t>
                      </a:r>
                      <a:endParaRPr lang="zh-CN" altLang="en-US" dirty="0">
                        <a:solidFill>
                          <a:srgbClr val="92D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92D050"/>
                          </a:solidFill>
                        </a:rPr>
                        <a:t>1.3765</a:t>
                      </a:r>
                      <a:endParaRPr lang="zh-CN" altLang="en-US" dirty="0">
                        <a:solidFill>
                          <a:srgbClr val="92D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1.3143</a:t>
                      </a:r>
                      <a:endParaRPr lang="zh-CN" altLang="en-US" dirty="0">
                        <a:solidFill>
                          <a:schemeClr val="accent3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B050"/>
                          </a:solidFill>
                        </a:rPr>
                        <a:t>1.2826</a:t>
                      </a:r>
                      <a:endParaRPr lang="zh-CN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19648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346F0B-4ACC-D9AB-EDC5-BCC9AB6A6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90902"/>
            <a:ext cx="8229600" cy="1325836"/>
          </a:xfrm>
        </p:spPr>
        <p:txBody>
          <a:bodyPr>
            <a:normAutofit/>
          </a:bodyPr>
          <a:lstStyle/>
          <a:p>
            <a:r>
              <a:rPr lang="en-US" altLang="zh-CN" sz="5400" b="1" dirty="0">
                <a:solidFill>
                  <a:srgbClr val="3A1C5C"/>
                </a:solidFill>
                <a:latin typeface="Times New Roman"/>
                <a:ea typeface="+mn-ea"/>
                <a:cs typeface="+mn-cs"/>
              </a:rPr>
              <a:t>Thanks!</a:t>
            </a:r>
            <a:endParaRPr lang="zh-CN" altLang="en-US" sz="5400" b="1" dirty="0">
              <a:solidFill>
                <a:srgbClr val="3A1C5C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B4C7A1-A85F-98D0-28A9-68822A52B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E12CD-FCB1-464E-A775-0B83FDDACE0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847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685</Words>
  <Application>Microsoft Macintosh PowerPoint</Application>
  <PresentationFormat>全屏显示(16:9)</PresentationFormat>
  <Paragraphs>88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 Math</vt:lpstr>
      <vt:lpstr>Times New Roman</vt:lpstr>
      <vt:lpstr>Office Theme</vt:lpstr>
      <vt:lpstr>HW3 Recommender Systems: Part 2 - Presentation</vt:lpstr>
      <vt:lpstr>Data Geometry and Cleaning</vt:lpstr>
      <vt:lpstr>Q1-Q6: Baseline Logic</vt:lpstr>
      <vt:lpstr>Q7: Observed-Only Matrix Factorization</vt:lpstr>
      <vt:lpstr>Proceed to Q12: Beyond Rating Matrix</vt:lpstr>
      <vt:lpstr>Q12 Hybrid Lasso Architecture</vt:lpstr>
      <vt:lpstr>Performance Summary &amp; Takeaways</vt:lpstr>
      <vt:lpstr>Thanks!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emplate/>
  <TotalTime>99</TotalTime>
  <Words>3</Words>
  <Application>Microsoft Macintosh PowerPoint</Application>
  <PresentationFormat>On-screen Show (16:9)</PresentationFormat>
  <Paragraphs>2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Cover Page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HW3 Recommender Systems</dc:title>
  <dc:creator>Junwei Li</dc:creator>
  <cp:keywords/>
  <cp:lastModifiedBy>2110393816@qq.com</cp:lastModifiedBy>
  <cp:revision>12</cp:revision>
  <dcterms:created xsi:type="dcterms:W3CDTF">2026-05-12T18:05:43Z</dcterms:created>
  <dcterms:modified xsi:type="dcterms:W3CDTF">2026-05-14T04:39:42Z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ubtitle">
    <vt:lpwstr>Sparse Ratings to Calibrated Hybrid Recommender</vt:lpwstr>
  </property>
</Properties>
</file>